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Canvas fondé sur les dernières hypothèses fournies par l’équipe : 7 500 € le kit installé et 30 €/mois de maintenance.</a:t>
            </a:r>
          </a:p>
          <a:p>
            <a:r>
              <a:t>Les prix remplacent les hypothèses plus anciennes pour ce document. Base HT/TTC à préciser.</a:t>
            </a:r>
          </a:p>
          <a:p>
            <a:r>
              <a:t>Le prix du kit vise étude, fourniture avec stockage, installation et mise en service. Vérifier coût complet, importation et marge.</a:t>
            </a:r>
          </a:p>
          <a:p>
            <a:r>
              <a:t>Définir le périmètre de maintenance, les pièces, déplacements, délais et le suivi SOLAR CONTROL inclus ou distinct.</a:t>
            </a:r>
          </a:p>
          <a:p>
            <a:r>
              <a:t>Deux techniciens représentent une équipe cible selon le budget et la charge. Aucun recrutement n’est déclaré réalisé.</a:t>
            </a:r>
          </a:p>
          <a:p>
            <a:r>
              <a:t>Les noms de fournisseurs et organismes sont des pistes ; aucun partenariat n’est annoncé comme obtenu.</a:t>
            </a:r>
          </a:p>
          <a:p>
            <a:r>
              <a:t>Les pourcentages 5/5/70/20 ne sont pas repris car leur sens reste à préciser. Pour un kit plus douze mois de maintenance : 7 860 €, dont 4,6 % de maintenance sur une même base fiscale.</a:t>
            </a:r>
          </a:p>
          <a:p>
            <a:r>
              <a:t>Les conversions utilisent 1 € = 655,957 FCFA (BCEAO). Les autonomies et économies sont des objectifs à mesurer.</a:t>
            </a:r>
          </a:p>
          <a:p>
            <a:r>
              <a:t>Détails, canaux, hypothèses et références : BUSINESS-MODEL-CANVAS.md. Version de travail ; hypothèses et références détaillées dans BUSINESS-MODEL-CANVAS.md.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075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3898880" cy="484632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2900" b="1">
                <a:solidFill>
                  <a:srgbClr val="075D65"/>
                </a:solidFill>
                <a:latin typeface="DejaVu Sans"/>
              </a:defRPr>
            </a:pPr>
            <a:r>
              <a:t>SOLAR WRAP  |  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77824"/>
            <a:ext cx="13898880" cy="329184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550" b="0">
                <a:solidFill>
                  <a:srgbClr val="53676D"/>
                </a:solidFill>
                <a:latin typeface="DejaVu Sans"/>
              </a:defRPr>
            </a:pPr>
            <a:r>
              <a:t>Côte d’Ivoire · Chaîne du froid alimentaire et pharmaceutique · Projet HEC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691993" cy="4526280"/>
          </a:xfrm>
          <a:prstGeom prst="roundRect">
            <a:avLst/>
          </a:prstGeom>
          <a:solidFill>
            <a:srgbClr val="E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591056"/>
            <a:ext cx="2435961" cy="44805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410" b="1">
                <a:solidFill>
                  <a:srgbClr val="075D65"/>
                </a:solidFill>
                <a:latin typeface="DejaVu Sans"/>
              </a:defRPr>
            </a:pPr>
            <a:r>
              <a:t>08  PARTENAIRES CLÉS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066544"/>
            <a:ext cx="2435961" cy="3813048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400" b="0">
                <a:solidFill>
                  <a:srgbClr val="17343F"/>
                </a:solidFill>
                <a:latin typeface="DejaVu Sans"/>
              </a:defRPr>
            </a:pPr>
            <a:r>
              <a:t>• Solaire embarqué : SonoSolar à consulter.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00" b="0">
                <a:solidFill>
                  <a:srgbClr val="17343F"/>
                </a:solidFill>
                <a:latin typeface="DejaVu Sans"/>
              </a:defRPr>
            </a:pPr>
            <a:r>
              <a:t>• Batteries, onduleurs, câbles et fixations : fournisseurs à qualifier.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00" b="0">
                <a:solidFill>
                  <a:srgbClr val="17343F"/>
                </a:solidFill>
                <a:latin typeface="DejaVu Sans"/>
              </a:defRPr>
            </a:pPr>
            <a:r>
              <a:t>• Carrossiers et spécialistes du froid.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00" b="0">
                <a:solidFill>
                  <a:srgbClr val="17343F"/>
                </a:solidFill>
                <a:latin typeface="DejaVu Sans"/>
              </a:defRPr>
            </a:pPr>
            <a:r>
              <a:t>• Organismes de formation.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00" b="0">
                <a:solidFill>
                  <a:srgbClr val="17343F"/>
                </a:solidFill>
                <a:latin typeface="DejaVu Sans"/>
              </a:defRPr>
            </a:pPr>
            <a:r>
              <a:t>• Financeurs, assureurs et acteurs de l’importation.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7481" y="1463040"/>
            <a:ext cx="2691993" cy="2208276"/>
          </a:xfrm>
          <a:prstGeom prst="roundRect">
            <a:avLst/>
          </a:prstGeom>
          <a:solidFill>
            <a:srgbClr val="E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1591056"/>
            <a:ext cx="2435961" cy="44805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410" b="1">
                <a:solidFill>
                  <a:srgbClr val="075D65"/>
                </a:solidFill>
                <a:latin typeface="DejaVu Sans"/>
              </a:defRPr>
            </a:pPr>
            <a:r>
              <a:t>07  ACTIVITÉS CLÉS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5497" y="2066544"/>
            <a:ext cx="2435961" cy="1495044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Étude et dimensionnement.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Offre et achats.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Pose, essais, mise en service.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Maintenance et suivi.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67481" y="3781044"/>
            <a:ext cx="2691993" cy="2208276"/>
          </a:xfrm>
          <a:prstGeom prst="roundRect">
            <a:avLst/>
          </a:prstGeom>
          <a:solidFill>
            <a:srgbClr val="E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5497" y="3909060"/>
            <a:ext cx="2435961" cy="44805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410" b="1">
                <a:solidFill>
                  <a:srgbClr val="075D65"/>
                </a:solidFill>
                <a:latin typeface="DejaVu Sans"/>
              </a:defRPr>
            </a:pPr>
            <a:r>
              <a:t>06  RESSOURCES CLÉS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5497" y="4384548"/>
            <a:ext cx="2435961" cy="1495044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2 techniciens + expert.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Fondatrice à Abidjan.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Outillage et suivi client.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Financement et trésorerie.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9203" y="1463040"/>
            <a:ext cx="2691993" cy="4526280"/>
          </a:xfrm>
          <a:prstGeom prst="roundRect">
            <a:avLst/>
          </a:prstGeom>
          <a:solidFill>
            <a:srgbClr val="FF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7219" y="1591056"/>
            <a:ext cx="2435961" cy="44805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410" b="1">
                <a:solidFill>
                  <a:srgbClr val="075D65"/>
                </a:solidFill>
                <a:latin typeface="DejaVu Sans"/>
              </a:defRPr>
            </a:pPr>
            <a:r>
              <a:t>02  VALEUR PROPOSÉE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7219" y="2066544"/>
            <a:ext cx="2435961" cy="3813048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500" b="0">
                <a:solidFill>
                  <a:srgbClr val="17343F"/>
                </a:solidFill>
                <a:latin typeface="DejaVu Sans"/>
              </a:defRPr>
            </a:pPr>
            <a:r>
              <a:t>• Un système solaire avec stockage, installé et entretenu.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500" b="0">
                <a:solidFill>
                  <a:srgbClr val="17343F"/>
                </a:solidFill>
                <a:latin typeface="DejaVu Sans"/>
              </a:defRPr>
            </a:pPr>
            <a:r>
              <a:t>• Étude, fourniture, pose, mise en service et maintenance.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500" b="0">
                <a:solidFill>
                  <a:srgbClr val="17343F"/>
                </a:solidFill>
                <a:latin typeface="DejaVu Sans"/>
              </a:defRPr>
            </a:pPr>
            <a:r>
              <a:t>• Soutenir le froid et réduire les coûts d’énergie.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500" b="0">
                <a:solidFill>
                  <a:srgbClr val="17343F"/>
                </a:solidFill>
                <a:latin typeface="DejaVu Sans"/>
              </a:defRPr>
            </a:pPr>
            <a:r>
              <a:t>• Autonomie à dimensionner et à vérifier par essais.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0924" y="1463040"/>
            <a:ext cx="2691993" cy="2208276"/>
          </a:xfrm>
          <a:prstGeom prst="roundRect">
            <a:avLst/>
          </a:prstGeom>
          <a:solidFill>
            <a:srgbClr val="E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8940" y="1591056"/>
            <a:ext cx="2435961" cy="44805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410" b="1">
                <a:solidFill>
                  <a:srgbClr val="075D65"/>
                </a:solidFill>
                <a:latin typeface="DejaVu Sans"/>
              </a:defRPr>
            </a:pPr>
            <a:r>
              <a:t>04  RELATIONS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8940" y="2066544"/>
            <a:ext cx="2435961" cy="1495044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Interlocuteur dédié.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Accompagnement avant et après la pose.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Assistance et maintenance.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20" b="0">
                <a:solidFill>
                  <a:srgbClr val="17343F"/>
                </a:solidFill>
                <a:latin typeface="DejaVu Sans"/>
              </a:defRPr>
            </a:pPr>
            <a:r>
              <a:t>• Contrat annuel renouvelable.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0924" y="3781044"/>
            <a:ext cx="2691993" cy="2208276"/>
          </a:xfrm>
          <a:prstGeom prst="roundRect">
            <a:avLst/>
          </a:prstGeom>
          <a:solidFill>
            <a:srgbClr val="E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8940" y="3909060"/>
            <a:ext cx="2435961" cy="44805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410" b="1">
                <a:solidFill>
                  <a:srgbClr val="075D65"/>
                </a:solidFill>
                <a:latin typeface="DejaVu Sans"/>
              </a:defRPr>
            </a:pPr>
            <a:r>
              <a:t>03  CANAUX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8940" y="4384548"/>
            <a:ext cx="2435961" cy="1495044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310" b="0">
                <a:solidFill>
                  <a:srgbClr val="17343F"/>
                </a:solidFill>
                <a:latin typeface="DejaVu Sans"/>
              </a:defRPr>
            </a:pPr>
            <a:r>
              <a:t>• Prospection B2B, LinkedIn, réseau local.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10" b="0">
                <a:solidFill>
                  <a:srgbClr val="17343F"/>
                </a:solidFill>
                <a:latin typeface="DejaVu Sans"/>
              </a:defRPr>
            </a:pPr>
            <a:r>
              <a:t>• CCIFCI, Business France, CGECI, CEPICI : à solliciter.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10" b="0">
                <a:solidFill>
                  <a:srgbClr val="17343F"/>
                </a:solidFill>
                <a:latin typeface="DejaVu Sans"/>
              </a:defRPr>
            </a:pPr>
            <a:r>
              <a:t>• Démonstrations, pilotes et salons ciblés.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72646" y="1463040"/>
            <a:ext cx="2691993" cy="4526280"/>
          </a:xfrm>
          <a:prstGeom prst="roundRect">
            <a:avLst/>
          </a:prstGeom>
          <a:solidFill>
            <a:srgbClr val="E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0662" y="1591056"/>
            <a:ext cx="2435961" cy="44805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410" b="1">
                <a:solidFill>
                  <a:srgbClr val="075D65"/>
                </a:solidFill>
                <a:latin typeface="DejaVu Sans"/>
              </a:defRPr>
            </a:pPr>
            <a:r>
              <a:t>01  CLIENTS CIBLES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662" y="2066544"/>
            <a:ext cx="2435961" cy="3813048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420" b="0">
                <a:solidFill>
                  <a:srgbClr val="17343F"/>
                </a:solidFill>
                <a:latin typeface="DejaVu Sans"/>
              </a:defRPr>
            </a:pPr>
            <a:r>
              <a:t>• Transporteurs frigorifiques.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20" b="0">
                <a:solidFill>
                  <a:srgbClr val="17343F"/>
                </a:solidFill>
                <a:latin typeface="DejaVu Sans"/>
              </a:defRPr>
            </a:pPr>
            <a:r>
              <a:t>• Distributeurs avec leur propre flotte.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20" b="0">
                <a:solidFill>
                  <a:srgbClr val="17343F"/>
                </a:solidFill>
                <a:latin typeface="DejaVu Sans"/>
              </a:defRPr>
            </a:pPr>
            <a:r>
              <a:t>• Alimentaire : frais et surgelés.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20" b="0">
                <a:solidFill>
                  <a:srgbClr val="17343F"/>
                </a:solidFill>
                <a:latin typeface="DejaVu Sans"/>
              </a:defRPr>
            </a:pPr>
            <a:r>
              <a:t>• Pharma : produits thermosensibles.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20" b="0">
                <a:solidFill>
                  <a:srgbClr val="17343F"/>
                </a:solidFill>
                <a:latin typeface="DejaVu Sans"/>
              </a:defRPr>
            </a:pPr>
            <a:r>
              <a:t>• Démarrage à Abidjan.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20" b="0">
                <a:solidFill>
                  <a:srgbClr val="17343F"/>
                </a:solidFill>
                <a:latin typeface="DejaVu Sans"/>
              </a:defRPr>
            </a:pPr>
            <a:r>
              <a:t>• Décideurs : logistique, technique, qualité et achats.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6144768"/>
            <a:ext cx="6894576" cy="1527048"/>
          </a:xfrm>
          <a:prstGeom prst="roundRect">
            <a:avLst/>
          </a:prstGeom>
          <a:solidFill>
            <a:srgbClr val="E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254496"/>
            <a:ext cx="6620256" cy="31089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410" b="1">
                <a:solidFill>
                  <a:srgbClr val="075D65"/>
                </a:solidFill>
                <a:latin typeface="DejaVu Sans"/>
              </a:defRPr>
            </a:pPr>
            <a:r>
              <a:t>09  STRUCTURE DES COÛTS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702552"/>
            <a:ext cx="6620256" cy="85953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350" b="0">
                <a:solidFill>
                  <a:srgbClr val="17343F"/>
                </a:solidFill>
                <a:latin typeface="DejaVu Sans"/>
              </a:defRPr>
            </a:pPr>
            <a:r>
              <a:t>Matériel et batterie · importation et transport · étude et installation.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50" b="0">
                <a:solidFill>
                  <a:srgbClr val="17343F"/>
                </a:solidFill>
                <a:latin typeface="DejaVu Sans"/>
              </a:defRPr>
            </a:pPr>
            <a:r>
              <a:t>Salaires, formation, outillage, déplacements · assurances et SAV.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350" b="0">
                <a:solidFill>
                  <a:srgbClr val="17343F"/>
                </a:solidFill>
                <a:latin typeface="DejaVu Sans"/>
              </a:defRPr>
            </a:pPr>
            <a:r>
              <a:t>Prospection, suivi client et outils numériques.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70064" y="6144768"/>
            <a:ext cx="6894576" cy="1527048"/>
          </a:xfrm>
          <a:prstGeom prst="roundRect">
            <a:avLst/>
          </a:prstGeom>
          <a:solidFill>
            <a:srgbClr val="075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7224" y="6254496"/>
            <a:ext cx="6620256" cy="310896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410" b="1">
                <a:solidFill>
                  <a:srgbClr val="FFFFFF"/>
                </a:solidFill>
                <a:latin typeface="DejaVu Sans"/>
              </a:defRPr>
            </a:pPr>
            <a:r>
              <a:t>05  SOURCES DE REVENUS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7224" y="6693407"/>
            <a:ext cx="6620256" cy="896112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  <a:defRPr sz="1430" b="0">
                <a:solidFill>
                  <a:srgbClr val="FFFFFF"/>
                </a:solidFill>
                <a:latin typeface="DejaVu Sans"/>
              </a:defRPr>
            </a:pPr>
            <a:r>
              <a:t>Kit installé : 7 500 € par véhicule (environ 4,92 M FCFA).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30" b="0">
                <a:solidFill>
                  <a:srgbClr val="FFFFFF"/>
                </a:solidFill>
                <a:latin typeface="DejaVu Sans"/>
              </a:defRPr>
            </a:pPr>
            <a:r>
              <a:t>Maintenance : 30 €/mois, soit 360 €/an.</a:t>
            </a:r>
          </a:p>
          <a:p>
            <a:pPr>
              <a:lnSpc>
                <a:spcPct val="104000"/>
              </a:lnSpc>
              <a:spcAft>
                <a:spcPts val="400"/>
              </a:spcAft>
              <a:defRPr sz="1430" b="0">
                <a:solidFill>
                  <a:srgbClr val="FFFFFF"/>
                </a:solidFill>
                <a:latin typeface="DejaVu Sans"/>
              </a:defRPr>
            </a:pPr>
            <a:r>
              <a:t>Contrat de maintenance de 12 mois, renouvelable.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" y="7863840"/>
            <a:ext cx="13807440" cy="228600"/>
          </a:xfrm>
          <a:prstGeom prst="rect">
            <a:avLst/>
          </a:prstGeom>
          <a:noFill/>
        </p:spPr>
        <p:txBody>
          <a:bodyPr wrap="square" tIns="13716" bIns="13716" lIns="18288" rIns="18288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  <a:defRPr sz="1070" b="0">
                <a:solidFill>
                  <a:srgbClr val="53676D"/>
                </a:solidFill>
                <a:latin typeface="DejaVu Sans"/>
              </a:defRPr>
            </a:pPr>
            <a:r>
              <a:t>Prix cibles · Taxes et prestations de maintenance à préciser · Partenaires envisagés · 28 octobre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WRAP — Business Model Canvas — Côte d’Ivoire</dc:title>
  <dc:subject/>
  <dc:creator>Groupe 8 — Projet HEC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