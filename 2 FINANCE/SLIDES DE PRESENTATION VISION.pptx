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WRAP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risp_high_resolution_cinematic_daytime_landsc_batch_2.png">    </p:cNvPr>
          <p:cNvPicPr>
            <a:picLocks noChangeAspect="1"/>
          </p:cNvPicPr>
          <p:nvPr/>
        </p:nvPicPr>
        <p:blipFill>
          <a:blip r:embed="rId1"/>
          <a:srcRect l="20809" r="20809" t="0" b="0"/>
          <a:stretch/>
        </p:blipFill>
        <p:spPr>
          <a:xfrm>
            <a:off x="5074920" y="0"/>
            <a:ext cx="71140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B2236">
              <a:alpha val="96000"/>
            </a:srgbClr>
          </a:solidFill>
          <a:ln w="12700">
            <a:solidFill>
              <a:srgbClr val="0B223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754880" y="0"/>
            <a:ext cx="2011680" cy="6858000"/>
          </a:xfrm>
          <a:prstGeom prst="rect">
            <a:avLst/>
          </a:prstGeom>
          <a:solidFill>
            <a:srgbClr val="0B2236">
              <a:alpha val="45000"/>
            </a:srgbClr>
          </a:solidFill>
          <a:ln w="12700">
            <a:solidFill>
              <a:srgbClr val="0B2236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65836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7512" y="71780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2236"/>
                </a:solidFill>
              </a:rPr>
              <a:t>HEC • STRATÉGIE MONDIALE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13258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SOLAR WRAP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594360" y="19019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CE54"/>
                </a:solidFill>
              </a:rPr>
              <a:t>Global Scale Thesis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94360" y="2514600"/>
            <a:ext cx="3931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FF5"/>
                </a:solidFill>
              </a:rPr>
              <a:t>Transformer les surfaces inutilisées des flottes professionnelles en actifs de production d’énergie.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370332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DF"/>
                </a:solidFill>
              </a:rPr>
              <a:t>Beachhead : camions frigorifiques • Plateforme : Vehicle Energy Skin • Ambition : standard mondial du retrofit solaire pour flottes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6172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C2"/>
                </a:solidFill>
              </a:rPr>
              <a:t>Équipe SOLAR WRAP •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24A"/>
                </a:solidFill>
              </a:rPr>
              <a:t>1. Le soleil crée notre terrain de jeu mondial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9418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685"/>
                </a:solidFill>
              </a:rPr>
              <a:t>La ressource solaire est suffisamment forte dans de nombreuses régions pour soutenir un déploiement global.</a:t>
            </a:r>
            <a:endParaRPr lang="en-US" sz="1050" dirty="0"/>
          </a:p>
        </p:txBody>
      </p:sp>
      <p:pic>
        <p:nvPicPr>
          <p:cNvPr id="4" name="Image 0" descr="/mnt/data/wide_cinematic_digital_infographic_style_illustra_batch_1.png">    </p:cNvPr>
          <p:cNvPicPr>
            <a:picLocks noChangeAspect="1"/>
          </p:cNvPicPr>
          <p:nvPr/>
        </p:nvPicPr>
        <p:blipFill>
          <a:blip r:embed="rId1"/>
          <a:srcRect l="3483" r="3483" t="0" b="0"/>
          <a:stretch/>
        </p:blipFill>
        <p:spPr>
          <a:xfrm>
            <a:off x="502920" y="1298448"/>
            <a:ext cx="74066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65592" y="1298448"/>
            <a:ext cx="3529584" cy="448056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0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400"/>
                </a:solidFill>
              </a:rPr>
              <a:t>SUNBELT PRIORITAIRE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12480" y="1938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24A"/>
                </a:solidFill>
              </a:rPr>
              <a:t>70 pays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412480" y="2359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</a:rPr>
              <a:t>dépassent 4,5 kWh/kWp/jour de potentiel PV moyen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430768" y="3136392"/>
            <a:ext cx="109728" cy="109728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50224" y="30540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</a:rPr>
              <a:t>Afrique du Nord &amp; Afrique australe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430768" y="3529584"/>
            <a:ext cx="109728" cy="109728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34472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</a:rPr>
              <a:t>Moyen-Orient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430768" y="3922776"/>
            <a:ext cx="109728" cy="109728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50224" y="38404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</a:rPr>
              <a:t>Australie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430768" y="4315968"/>
            <a:ext cx="109728" cy="109728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50224" y="42336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</a:rPr>
              <a:t>Chili / Argentine / Pérou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430768" y="4709160"/>
            <a:ext cx="109728" cy="109728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50224" y="462686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</a:rPr>
              <a:t>Mexique &amp; sud-ouest des Amériques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412480" y="52852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24A"/>
                </a:solidFill>
              </a:rPr>
              <a:t>Implication stratégique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412480" y="55595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D3D"/>
                </a:solidFill>
              </a:rPr>
              <a:t>Commencer là où se cumulent soleil + coût énergétique + usage intensif + flotte professionnelle.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687685"/>
                </a:solidFill>
              </a:rPr>
              <a:t>Source : World Bank / ESMAP – Global Solar Atlas. Carte illustrative inspirée des zones de fort potentiel PV.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24A"/>
                </a:solidFill>
              </a:rPr>
              <a:t>2. Un marché mondial déjà assez grand — sans compter les hybrides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9418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685"/>
                </a:solidFill>
              </a:rPr>
              <a:t>Le cas de base repose uniquement sur les véhicules professionnels électriques ; les hybrides constituent un upside non nécessaire au business plan.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BF0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14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64008" cy="9601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72768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24A"/>
                </a:solidFill>
              </a:rPr>
              <a:t>&gt;400k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58952" y="1929384"/>
            <a:ext cx="2075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2D3D"/>
                </a:solidFill>
              </a:rPr>
              <a:t>camions électriques vendus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58952" y="2148840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87685"/>
                </a:solidFill>
              </a:rPr>
              <a:t>Monde • 2025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3127248" y="14173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BF0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1400000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27248" y="1417320"/>
            <a:ext cx="64008" cy="960120"/>
          </a:xfrm>
          <a:prstGeom prst="rect">
            <a:avLst/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72768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24A"/>
                </a:solidFill>
              </a:rPr>
              <a:t>~70k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291840" y="1929384"/>
            <a:ext cx="2075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2D3D"/>
                </a:solidFill>
              </a:rPr>
              <a:t>bus électriques vendus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3291840" y="2148840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87685"/>
                </a:solidFill>
              </a:rPr>
              <a:t>Monde • 2025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5660136" y="14173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BF0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140000000000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0136" y="1417320"/>
            <a:ext cx="64008" cy="9601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24728" y="1572768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24A"/>
                </a:solidFill>
              </a:rPr>
              <a:t>&gt;430k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824728" y="1929384"/>
            <a:ext cx="2075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2D3D"/>
                </a:solidFill>
              </a:rPr>
              <a:t>utilitaires électriques vendus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5824728" y="2148840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87685"/>
                </a:solidFill>
              </a:rPr>
              <a:t>Monde • 2025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8193024" y="141732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BF0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1.4e+2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93024" y="1417320"/>
            <a:ext cx="64008" cy="9601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7616" y="157276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24A"/>
                </a:solidFill>
              </a:rPr>
              <a:t>~900k/an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357616" y="1929384"/>
            <a:ext cx="2487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2D3D"/>
                </a:solidFill>
              </a:rPr>
              <a:t>TAM professionnel électrique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8357616" y="2148840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87685"/>
                </a:solidFill>
              </a:rPr>
              <a:t>ordre de grandeur 2025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777240" y="3063240"/>
            <a:ext cx="3657600" cy="1234440"/>
          </a:xfrm>
          <a:prstGeom prst="chevron">
            <a:avLst/>
          </a:prstGeom>
          <a:solidFill>
            <a:srgbClr val="DDEBFF"/>
          </a:solidFill>
          <a:ln w="12700">
            <a:solidFill>
              <a:srgbClr val="BFD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33192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24A"/>
                </a:solidFill>
              </a:rPr>
              <a:t>TAM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2324A"/>
                </a:solidFill>
              </a:rPr>
              <a:t>~900 000 véhicules/an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977640" y="3182112"/>
            <a:ext cx="3154680" cy="1005840"/>
          </a:xfrm>
          <a:prstGeom prst="chevron">
            <a:avLst/>
          </a:prstGeom>
          <a:solidFill>
            <a:srgbClr val="E8F6EF"/>
          </a:solidFill>
          <a:ln w="12700">
            <a:solidFill>
              <a:srgbClr val="CFEB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33741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24A"/>
                </a:solidFill>
              </a:rPr>
              <a:t>SAM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2324A"/>
                </a:solidFill>
              </a:rPr>
              <a:t>~225 000/an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720840" y="3291840"/>
            <a:ext cx="2651760" cy="795528"/>
          </a:xfrm>
          <a:prstGeom prst="chevron">
            <a:avLst/>
          </a:prstGeom>
          <a:solidFill>
            <a:srgbClr val="FFF1C7"/>
          </a:solidFill>
          <a:ln w="12700">
            <a:solidFill>
              <a:srgbClr val="FFE09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46557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SOM 2033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5 000/an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46920" y="34564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B400"/>
                </a:solidFill>
              </a:rPr>
              <a:t>= 0,56 % du TAM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77240" y="4709160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Notre ambition 2033 ne nécessite pas une domination mondiale : moins de 1 % du flux annuel actuel suffit à soutenir le scénario central.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541324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685"/>
                </a:solidFill>
              </a:rPr>
              <a:t>Hypothèse SAM : 25 % du TAM considéré réellement adressable à court/moyen terme selon surface disponible, usage intensif, compatibilité technique et économie client.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687685"/>
                </a:solidFill>
              </a:rPr>
              <a:t>Source : IEA Global EV Outlook 2026. TAM = somme arrondie des ventes 2025 de camions, bus et utilitaires électriques. SAM = hypothèse management.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24A"/>
                </a:solidFill>
              </a:rPr>
              <a:t>3. Plage de débarquement : forte douleur + fort soleil + faible friction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9418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685"/>
                </a:solidFill>
              </a:rPr>
              <a:t>Les premiers pays doivent maximiser la preuve de valeur, pas seulement la taille de marché.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1.4000000000000002e+2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🇦🇺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07592" y="1554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24A"/>
                </a:solidFill>
              </a:rPr>
              <a:t>Australie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32888" y="1545336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B400"/>
                </a:solidFill>
              </a:rPr>
              <a:t>9,5/10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2011680"/>
            <a:ext cx="241401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</a:rPr>
              <a:t>Soleil élevé, longues distances, flotte lourde, marché anglophone, cas d’usage idéal pour le froid et les auxiliaires.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916936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97637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VAGUE 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84448" y="1389888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1.4000000000000003e+34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🇨🇱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97680" y="1554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24A"/>
                </a:solidFill>
              </a:rPr>
              <a:t>Chili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22976" y="1545336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B400"/>
                </a:solidFill>
              </a:rPr>
              <a:t>9/10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2011680"/>
            <a:ext cx="241401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</a:rPr>
              <a:t>Atacama + mines + transport longue distance + ouverture commerciale : excellent terrain de pilote et de preuve ROI.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49040" y="2916936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297637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VAGUE 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74536" y="1389888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1.4000000000000003e+39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39128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🇿🇦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87768" y="1554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24A"/>
                </a:solidFill>
              </a:rPr>
              <a:t>Afrique du Sud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13064" y="1545336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B400"/>
                </a:solidFill>
              </a:rPr>
              <a:t>8/10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39128" y="2011680"/>
            <a:ext cx="241401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</a:rPr>
              <a:t>Fort potentiel solaire et besoins logistiques, mais homologation/modification véhicule à cadrer davantage.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39128" y="2916936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97637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VAGUE 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564624" y="1389888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1.4000000000000002e+44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29216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🇧🇷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277856" y="15544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24A"/>
                </a:solidFill>
              </a:rPr>
              <a:t>Brésil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71632" y="1545336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B400"/>
                </a:solidFill>
              </a:rPr>
              <a:t>7/10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29216" y="2011680"/>
            <a:ext cx="16824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D3D"/>
                </a:solidFill>
              </a:rPr>
              <a:t>Marché très large et solaire, mais fiscalité/import/homologation plus complexes : marché de scale.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729216" y="2916936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02368" y="297637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VAGUE 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5800" y="3749040"/>
            <a:ext cx="10881360" cy="1572768"/>
          </a:xfrm>
          <a:prstGeom prst="roundRect">
            <a:avLst>
              <a:gd name="adj" fmla="val 4651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3977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FE0EE"/>
                </a:solidFill>
              </a:rPr>
              <a:t>Notre beachhead mondial n’est pas « le camion » ; c’est :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60120" y="440740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CAMION FRIGORIFIQUE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3794760" y="4389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400"/>
                </a:solidFill>
              </a:rPr>
              <a:t>+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069080" y="440740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PAYS TRÈS ENSOLEILLÉ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7150608" y="4389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400"/>
                </a:solidFill>
              </a:rPr>
              <a:t>+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452360" y="44074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COÛT ÉNERGIE ÉLEVÉ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960120" y="48920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E54"/>
                </a:solidFill>
              </a:rPr>
              <a:t>→ degré de douleur maximum → achat plus facile → preuve terrain plus rapide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687685"/>
                </a:solidFill>
              </a:rPr>
              <a:t>Scores = appréciation stratégique SOLAR WRAP (non statistique). Les exigences réglementaires et d’homologation restent à valider pays par pays.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24A"/>
                </a:solidFill>
              </a:rPr>
              <a:t>4. Notre scalabilité : une plateforme, plusieurs couches de croissance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9418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685"/>
                </a:solidFill>
              </a:rPr>
              <a:t>La technologie cœur reste la même ; nous changeons le segment, la géographie et le mode de monétisation.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44752"/>
            <a:ext cx="2331720" cy="30632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1.4000000000000002e+4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44752"/>
            <a:ext cx="2331720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764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324A"/>
                </a:solidFill>
              </a:rPr>
              <a:t>1 • SEGMENT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886968" y="2286000"/>
            <a:ext cx="1920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Camion frigorifique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→ bus / coach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→ poids lourds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→ utilitaires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→ véhicules spéciaux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3118104" y="2697480"/>
            <a:ext cx="502920" cy="548640"/>
          </a:xfrm>
          <a:prstGeom prst="chevron">
            <a:avLst/>
          </a:prstGeom>
          <a:solidFill>
            <a:srgbClr val="D5DCE3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444752"/>
            <a:ext cx="2331720" cy="30632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1.4e+5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444752"/>
            <a:ext cx="2331720" cy="109728"/>
          </a:xfrm>
          <a:prstGeom prst="rect">
            <a:avLst/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764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324A"/>
                </a:solidFill>
              </a:rPr>
              <a:t>2 • GÉOGRAPHIE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3721608" y="2286000"/>
            <a:ext cx="1920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Europe pilote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→ Australie / Chili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→ Afrique du Sud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→ Brésil / MENA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→ OEM mondial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952744" y="2697480"/>
            <a:ext cx="502920" cy="548640"/>
          </a:xfrm>
          <a:prstGeom prst="chevron">
            <a:avLst/>
          </a:prstGeom>
          <a:solidFill>
            <a:srgbClr val="D5DCE3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444752"/>
            <a:ext cx="2331720" cy="30632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00000">
                <a:alpha val="1.4000000000000001e+5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444752"/>
            <a:ext cx="2331720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1764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324A"/>
                </a:solidFill>
              </a:rPr>
              <a:t>3 • PRODUIT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6556248" y="2286000"/>
            <a:ext cx="1920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Kit PV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→ SOLAR CONTROL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→ batterie auxiliaire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→ intégration OEM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→ data énergétique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8787384" y="2697480"/>
            <a:ext cx="502920" cy="548640"/>
          </a:xfrm>
          <a:prstGeom prst="chevron">
            <a:avLst/>
          </a:prstGeom>
          <a:solidFill>
            <a:srgbClr val="D5DCE3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9720" y="1444752"/>
            <a:ext cx="2331720" cy="30632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00000">
                <a:alpha val="1.4e+6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9720" y="1444752"/>
            <a:ext cx="2331720" cy="109728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54312" y="1764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324A"/>
                </a:solidFill>
              </a:rPr>
              <a:t>4 • REVENUS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390888" y="2286000"/>
            <a:ext cx="1920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Vente hardware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→ installation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→ abonnement SaaS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→ certification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D3D"/>
                </a:solidFill>
              </a:rPr>
              <a:t>→ licence / royalty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1325880" y="4892040"/>
            <a:ext cx="9509760" cy="822960"/>
          </a:xfrm>
          <a:prstGeom prst="roundRect">
            <a:avLst>
              <a:gd name="adj" fmla="val 8889"/>
            </a:avLst>
          </a:prstGeom>
          <a:solidFill>
            <a:srgbClr val="EEF3F7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5138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400"/>
                </a:solidFill>
              </a:rPr>
              <a:t>MOAT À CONSTRUIRE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71800" y="5029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324A"/>
                </a:solidFill>
              </a:rPr>
              <a:t>Intégration véhicule + électronique multizone + logiciel + données + certification + réseau d’installateurs + contrats flottes.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74520" y="58795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2324A"/>
                </a:solidFill>
              </a:rPr>
              <a:t>Un concurrent peut acheter le même panneau. Il ne doit pas pouvoir reproduire facilement le système complet.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24A"/>
                </a:solidFill>
              </a:rPr>
              <a:t>5. La scalabilité devient visible dans le modèle financier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9418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685"/>
                </a:solidFill>
              </a:rPr>
              <a:t>Scénario central : croissance progressive, preuve terrain avant accélération, rentabilité à partir de 2030.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24A"/>
                </a:solidFill>
              </a:rPr>
              <a:t>Installations annuelles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4828032"/>
            <a:ext cx="5486400" cy="0"/>
          </a:xfrm>
          <a:prstGeom prst="line">
            <a:avLst/>
          </a:prstGeom>
          <a:noFill/>
          <a:ln w="15240">
            <a:solidFill>
              <a:srgbClr val="AAB6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4664629"/>
            <a:ext cx="128016" cy="128016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87685"/>
                </a:solidFill>
              </a:rPr>
              <a:t>2027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685800" y="4445173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2324A"/>
                </a:solidFill>
              </a:rPr>
              <a:t>15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1728216" y="4608942"/>
            <a:ext cx="128016" cy="128016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63624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87685"/>
                </a:solidFill>
              </a:rPr>
              <a:t>2028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1517904" y="438948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2324A"/>
                </a:solidFill>
              </a:rPr>
              <a:t>120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960120" y="4728637"/>
            <a:ext cx="832104" cy="-55687"/>
          </a:xfrm>
          <a:prstGeom prst="line">
            <a:avLst/>
          </a:prstGeom>
          <a:noFill/>
          <a:ln w="3175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2560320" y="4433926"/>
            <a:ext cx="128016" cy="128016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87685"/>
                </a:solidFill>
              </a:rPr>
              <a:t>2029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2350008" y="421447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2324A"/>
                </a:solidFill>
              </a:rPr>
              <a:t>450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1792224" y="4672950"/>
            <a:ext cx="832104" cy="-175016"/>
          </a:xfrm>
          <a:prstGeom prst="line">
            <a:avLst/>
          </a:prstGeom>
          <a:noFill/>
          <a:ln w="3175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392424" y="4089197"/>
            <a:ext cx="128016" cy="128016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87685"/>
                </a:solidFill>
              </a:rPr>
              <a:t>2030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3182112" y="386974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2324A"/>
                </a:solidFill>
              </a:rPr>
              <a:t>1 100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2624328" y="4497934"/>
            <a:ext cx="832104" cy="-344729"/>
          </a:xfrm>
          <a:prstGeom prst="line">
            <a:avLst/>
          </a:prstGeom>
          <a:noFill/>
          <a:ln w="3175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4224528" y="3505810"/>
            <a:ext cx="128016" cy="128016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59936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87685"/>
                </a:solidFill>
              </a:rPr>
              <a:t>2031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4014216" y="328635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2324A"/>
                </a:solidFill>
              </a:rPr>
              <a:t>2 200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3456432" y="4153205"/>
            <a:ext cx="832104" cy="-583387"/>
          </a:xfrm>
          <a:prstGeom prst="line">
            <a:avLst/>
          </a:prstGeom>
          <a:noFill/>
          <a:ln w="3175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5056632" y="2816352"/>
            <a:ext cx="128016" cy="128016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87685"/>
                </a:solidFill>
              </a:rPr>
              <a:t>2032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4846320" y="25968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2324A"/>
                </a:solidFill>
              </a:rPr>
              <a:t>3 500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288536" y="3569818"/>
            <a:ext cx="832104" cy="-689458"/>
          </a:xfrm>
          <a:prstGeom prst="line">
            <a:avLst/>
          </a:prstGeom>
          <a:noFill/>
          <a:ln w="3175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5888736" y="2020824"/>
            <a:ext cx="128016" cy="128016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24144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87685"/>
                </a:solidFill>
              </a:rPr>
              <a:t>2033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5678424" y="18013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2324A"/>
                </a:solidFill>
              </a:rPr>
              <a:t>5 000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5120640" y="2880360"/>
            <a:ext cx="832104" cy="-795528"/>
          </a:xfrm>
          <a:prstGeom prst="line">
            <a:avLst/>
          </a:prstGeom>
          <a:noFill/>
          <a:ln w="3175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720840" y="1444752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BF0"/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00000">
                <a:alpha val="1.4000000000000001e+69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20840" y="1444752"/>
            <a:ext cx="64008" cy="9601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85432" y="160020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24A"/>
                </a:solidFill>
              </a:rPr>
              <a:t>51,7 M€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6885432" y="1956816"/>
            <a:ext cx="19385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2D3D"/>
                </a:solidFill>
              </a:rPr>
              <a:t>CA 2033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9189720" y="1444752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BF0"/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00000">
                <a:alpha val="1.4e+74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189720" y="1444752"/>
            <a:ext cx="64008" cy="960120"/>
          </a:xfrm>
          <a:prstGeom prst="rect">
            <a:avLst/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54312" y="160020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24A"/>
                </a:solidFill>
              </a:rPr>
              <a:t>14,7 M€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9354312" y="1956816"/>
            <a:ext cx="19385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2D3D"/>
                </a:solidFill>
              </a:rPr>
              <a:t>EBITDA 2033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720840" y="265176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BF0"/>
            </a:solidFill>
            <a:prstDash val="solid"/>
          </a:ln>
          <a:effectLst>
            <a:outerShdw sx="100000" sy="100000" kx="0" ky="0" algn="bl" rotWithShape="0" blurRad="9.15987465915355e+65" dist="4.579937329576775e+65" dir="1.2694994583552002e+78">
              <a:srgbClr val="000000">
                <a:alpha val="1.4e+79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20840" y="2651760"/>
            <a:ext cx="64008" cy="9601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85432" y="280720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24A"/>
                </a:solidFill>
              </a:rPr>
              <a:t>2030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6885432" y="3163824"/>
            <a:ext cx="19385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2D3D"/>
                </a:solidFill>
              </a:rPr>
              <a:t>EBITDA positif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9189720" y="265176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BF0"/>
            </a:solidFill>
            <a:prstDash val="solid"/>
          </a:ln>
          <a:effectLst>
            <a:outerShdw sx="100000" sy="100000" kx="0" ky="0" algn="bl" rotWithShape="0" blurRad="1.1633040817125008e+70" dist="5.816520408562504e+69" dir="7.616996750131201e+82">
              <a:srgbClr val="000000">
                <a:alpha val="1.4000000000000001e+84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189720" y="2651760"/>
            <a:ext cx="64008" cy="9601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54312" y="280720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24A"/>
                </a:solidFill>
              </a:rPr>
              <a:t>≈ 5,8 M€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9354312" y="3163824"/>
            <a:ext cx="19385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2D3D"/>
                </a:solidFill>
              </a:rPr>
              <a:t>besoin max de financement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6720840" y="3858768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BF0"/>
            </a:solidFill>
            <a:prstDash val="solid"/>
          </a:ln>
          <a:effectLst>
            <a:outerShdw sx="100000" sy="100000" kx="0" ky="0" algn="bl" rotWithShape="0" blurRad="1.477396183774876e+74" dist="7.38698091887438e+73" dir="4.57019805007872e+87">
              <a:srgbClr val="000000">
                <a:alpha val="1.4000000000000002e+89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20840" y="3858768"/>
            <a:ext cx="64008" cy="960120"/>
          </a:xfrm>
          <a:prstGeom prst="rect">
            <a:avLst/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85432" y="401421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24A"/>
                </a:solidFill>
              </a:rPr>
              <a:t>≈ 4,2 ans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6885432" y="4370832"/>
            <a:ext cx="19385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2D3D"/>
                </a:solidFill>
              </a:rPr>
              <a:t>payback client cible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9189720" y="3858768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BF0"/>
            </a:solidFill>
            <a:prstDash val="solid"/>
          </a:ln>
          <a:effectLst>
            <a:outerShdw sx="100000" sy="100000" kx="0" ky="0" algn="bl" rotWithShape="0" blurRad="1.8762931533940924e+78" dist="9.381465766970462e+77" dir="2.742118830047232e+92">
              <a:srgbClr val="000000">
                <a:alpha val="1.4000000000000002e+94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189720" y="3858768"/>
            <a:ext cx="64008" cy="9601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54312" y="401421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24A"/>
                </a:solidFill>
              </a:rPr>
              <a:t>0,56 %</a:t>
            </a:r>
            <a:endParaRPr lang="en-US" sz="2100" dirty="0"/>
          </a:p>
        </p:txBody>
      </p:sp>
      <p:sp>
        <p:nvSpPr>
          <p:cNvPr id="56" name="Text 54"/>
          <p:cNvSpPr/>
          <p:nvPr/>
        </p:nvSpPr>
        <p:spPr>
          <a:xfrm>
            <a:off x="9354312" y="4370832"/>
            <a:ext cx="19385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2D3D"/>
                </a:solidFill>
              </a:rPr>
              <a:t>part TAM nécessaire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777240" y="5504688"/>
            <a:ext cx="10652760" cy="566928"/>
          </a:xfrm>
          <a:prstGeom prst="roundRect">
            <a:avLst>
              <a:gd name="adj" fmla="val 9677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87552" y="5669280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Le modèle ne dépend ni d’une subvention, ni d’un contrat OEM, ni du marché particulier : ces leviers restent des options d’accélération.</a:t>
            </a:r>
            <a:endParaRPr lang="en-US" sz="1080" dirty="0"/>
          </a:p>
        </p:txBody>
      </p:sp>
      <p:sp>
        <p:nvSpPr>
          <p:cNvPr id="59" name="Text 57"/>
          <p:cNvSpPr/>
          <p:nvPr/>
        </p:nvSpPr>
        <p:spPr>
          <a:xfrm>
            <a:off x="502920" y="6473952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687685"/>
                </a:solidFill>
              </a:rPr>
              <a:t>Source : Business Plan SOLAR WRAP V2 – scénario central. Données marché IEA 2026 pour le ratio TAM.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24A"/>
                </a:solidFill>
              </a:rPr>
              <a:t>6. Ce que nous devons prouver maintenant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9418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685"/>
                </a:solidFill>
              </a:rPr>
              <a:t>Notre priorité n’est plus d’ajouter des idées : c’est de transformer les hypothèses critiques en preuves.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2.3828923048104974e+82" dist="1.1914461524052487e+82" dir="1.6452712980283393e+97">
              <a:srgbClr val="000000">
                <a:alpha val="1.4000000000000001e+9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276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4B400"/>
                </a:solidFill>
              </a:rPr>
              <a:t>OBJECTIF PRIORITAIRE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2395728" y="1609344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2324A"/>
                </a:solidFill>
              </a:rPr>
              <a:t>Prouver un ROI &lt; 5 ans sur camion frigorifique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868680" y="1947672"/>
            <a:ext cx="4892040" cy="0"/>
          </a:xfrm>
          <a:prstGeom prst="line">
            <a:avLst/>
          </a:prstGeom>
          <a:noFill/>
          <a:ln w="10160">
            <a:solidFill>
              <a:srgbClr val="E5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305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4B400"/>
                </a:solidFill>
              </a:rPr>
              <a:t>HYPOTHÈSES À VÉRIFIER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2395728" y="2112264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2324A"/>
                </a:solidFill>
              </a:rPr>
              <a:t>kWh réels • coût kit • temps de pose • durabilité • volonté de payer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868680" y="2450592"/>
            <a:ext cx="4892040" cy="0"/>
          </a:xfrm>
          <a:prstGeom prst="line">
            <a:avLst/>
          </a:prstGeom>
          <a:noFill/>
          <a:ln w="10160">
            <a:solidFill>
              <a:srgbClr val="E5E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334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4B400"/>
                </a:solidFill>
              </a:rPr>
              <a:t>ACTIONS EN COURS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2395728" y="2615184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2324A"/>
                </a:solidFill>
              </a:rPr>
              <a:t>benchmark techno • entretiens flotte • business case • partenaires pilotes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68680" y="2953512"/>
            <a:ext cx="4892040" cy="0"/>
          </a:xfrm>
          <a:prstGeom prst="line">
            <a:avLst/>
          </a:prstGeom>
          <a:noFill/>
          <a:ln w="10160">
            <a:solidFill>
              <a:srgbClr val="E5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363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4B400"/>
                </a:solidFill>
              </a:rPr>
              <a:t>LIVRABLE ATTENDU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395728" y="3118104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2324A"/>
                </a:solidFill>
              </a:rPr>
              <a:t>prototype + données terrain + dossier d’industrialisation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868680" y="3456432"/>
            <a:ext cx="4892040" cy="0"/>
          </a:xfrm>
          <a:prstGeom prst="line">
            <a:avLst/>
          </a:prstGeom>
          <a:noFill/>
          <a:ln w="10160">
            <a:solidFill>
              <a:srgbClr val="E5E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93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4B400"/>
                </a:solidFill>
              </a:rPr>
              <a:t>ÉCHÉANCE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2395728" y="3621024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2324A"/>
                </a:solidFill>
              </a:rPr>
              <a:t>À fixer par le COMEX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868680" y="3959352"/>
            <a:ext cx="4892040" cy="0"/>
          </a:xfrm>
          <a:prstGeom prst="line">
            <a:avLst/>
          </a:prstGeom>
          <a:noFill/>
          <a:ln w="10160">
            <a:solidFill>
              <a:srgbClr val="E5E9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1422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4B400"/>
                </a:solidFill>
              </a:rPr>
              <a:t>BESOINS AUTRES PÔLES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2395728" y="4123944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2324A"/>
                </a:solidFill>
              </a:rPr>
              <a:t>Produit • Commercial • Finance • Juridique / homologation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868680" y="4462272"/>
            <a:ext cx="4892040" cy="0"/>
          </a:xfrm>
          <a:prstGeom prst="line">
            <a:avLst/>
          </a:prstGeom>
          <a:noFill/>
          <a:ln w="10160">
            <a:solidFill>
              <a:srgbClr val="E5E9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6451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4B400"/>
                </a:solidFill>
              </a:rPr>
              <a:t>SOURCES ET LIENS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395728" y="4626864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2324A"/>
                </a:solidFill>
              </a:rPr>
              <a:t>IEA • World Bank / GSA • Fraunhofer • retours clients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68680" y="4965192"/>
            <a:ext cx="4892040" cy="0"/>
          </a:xfrm>
          <a:prstGeom prst="line">
            <a:avLst/>
          </a:prstGeom>
          <a:noFill/>
          <a:ln w="10160">
            <a:solidFill>
              <a:srgbClr val="E5E9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1480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4B400"/>
                </a:solidFill>
              </a:rPr>
              <a:t>DÉCISIONS PRISES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2395728" y="5129784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2324A"/>
                </a:solidFill>
              </a:rPr>
              <a:t>B2B • refrigerated beachhead • architecture hybride • scale international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6355080" y="1353312"/>
            <a:ext cx="5239512" cy="4526280"/>
          </a:xfrm>
          <a:prstGeom prst="roundRect">
            <a:avLst>
              <a:gd name="adj" fmla="val 1616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E54"/>
                </a:solidFill>
              </a:rPr>
              <a:t>SUIVI COMEX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56832" y="21214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C9D8E4"/>
                </a:solidFill>
              </a:rPr>
              <a:t>Action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8366760" y="21214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9D8E4"/>
                </a:solidFill>
              </a:rPr>
              <a:t>Responsable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9281160" y="21214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9D8E4"/>
                </a:solidFill>
              </a:rPr>
              <a:t>Échéance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10241280" y="2121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9D8E4"/>
                </a:solidFill>
              </a:rPr>
              <a:t>Statut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6629400" y="2414016"/>
            <a:ext cx="4572000" cy="0"/>
          </a:xfrm>
          <a:prstGeom prst="line">
            <a:avLst/>
          </a:prstGeom>
          <a:noFill/>
          <a:ln w="8890">
            <a:solidFill>
              <a:srgbClr val="3452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6832" y="24871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20 entretiens flottes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8366760" y="24871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LEVON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9281160" y="24871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À fixer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10241280" y="24871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CE54"/>
                </a:solidFill>
              </a:rPr>
              <a:t>À faire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629400" y="2980944"/>
            <a:ext cx="4572000" cy="0"/>
          </a:xfrm>
          <a:prstGeom prst="line">
            <a:avLst/>
          </a:prstGeom>
          <a:noFill/>
          <a:ln w="8890">
            <a:solidFill>
              <a:srgbClr val="3452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30540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Sélection techno PV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8366760" y="305409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Produit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9281160" y="305409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À fixer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10241280" y="30540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CE54"/>
                </a:solidFill>
              </a:rPr>
              <a:t>À faire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629400" y="3547872"/>
            <a:ext cx="4572000" cy="0"/>
          </a:xfrm>
          <a:prstGeom prst="line">
            <a:avLst/>
          </a:prstGeom>
          <a:noFill/>
          <a:ln w="8890">
            <a:solidFill>
              <a:srgbClr val="34526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56832" y="36210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Pilote 5–10 véhicules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8366760" y="362102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Équipe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9281160" y="362102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À fixer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10241280" y="36210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CE54"/>
                </a:solidFill>
              </a:rPr>
              <a:t>À lancer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6629400" y="4114800"/>
            <a:ext cx="4572000" cy="0"/>
          </a:xfrm>
          <a:prstGeom prst="line">
            <a:avLst/>
          </a:prstGeom>
          <a:noFill/>
          <a:ln w="8890">
            <a:solidFill>
              <a:srgbClr val="34526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56832" y="4187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Validation pays Vague 1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8366760" y="418795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Juridique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9281160" y="418795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À fixer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10241280" y="4187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CE54"/>
                </a:solidFill>
              </a:rPr>
              <a:t>À cadrer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6629400" y="4681728"/>
            <a:ext cx="4572000" cy="0"/>
          </a:xfrm>
          <a:prstGeom prst="line">
            <a:avLst/>
          </a:prstGeom>
          <a:noFill/>
          <a:ln w="8890">
            <a:solidFill>
              <a:srgbClr val="34526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56832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Dossier financement</a:t>
            </a:r>
            <a:endParaRPr lang="en-US" sz="880" dirty="0"/>
          </a:p>
        </p:txBody>
      </p:sp>
      <p:sp>
        <p:nvSpPr>
          <p:cNvPr id="56" name="Text 54"/>
          <p:cNvSpPr/>
          <p:nvPr/>
        </p:nvSpPr>
        <p:spPr>
          <a:xfrm>
            <a:off x="8366760" y="475488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Finance</a:t>
            </a:r>
            <a:endParaRPr lang="en-US" sz="880" dirty="0"/>
          </a:p>
        </p:txBody>
      </p:sp>
      <p:sp>
        <p:nvSpPr>
          <p:cNvPr id="57" name="Text 55"/>
          <p:cNvSpPr/>
          <p:nvPr/>
        </p:nvSpPr>
        <p:spPr>
          <a:xfrm>
            <a:off x="9281160" y="475488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À fixer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10241280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CE54"/>
                </a:solidFill>
              </a:rPr>
              <a:t>À préparer</a:t>
            </a:r>
            <a:endParaRPr lang="en-US" sz="880" dirty="0"/>
          </a:p>
        </p:txBody>
      </p:sp>
      <p:sp>
        <p:nvSpPr>
          <p:cNvPr id="59" name="Text 57"/>
          <p:cNvSpPr/>
          <p:nvPr/>
        </p:nvSpPr>
        <p:spPr>
          <a:xfrm>
            <a:off x="6656832" y="5440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CE54"/>
                </a:solidFill>
              </a:rPr>
              <a:t>NORTH STAR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818120" y="5330952"/>
            <a:ext cx="3429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Faire en sorte que le coût de ne pas acheter SOLAR WRAP devienne supérieur au coût d’achat.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02920" y="6473952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687685"/>
                </a:solidFill>
              </a:rPr>
              <a:t>Conclusion : scaler après preuve terrain. Un pilote réussi doit transformer une hypothèse de marché en standard duplicable.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SOLAR WRAP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WRAP – Global Scale Thesis</dc:title>
  <dc:subject>SOLAR WRAP – stratégie mondiale et scalabilité</dc:subject>
  <dc:creator>OpenAI</dc:creator>
  <cp:lastModifiedBy>OpenAI</cp:lastModifiedBy>
  <cp:revision>1</cp:revision>
  <dcterms:created xsi:type="dcterms:W3CDTF">2026-10-27T18:43:28Z</dcterms:created>
  <dcterms:modified xsi:type="dcterms:W3CDTF">2026-10-27T18:43:28Z</dcterms:modified>
</cp:coreProperties>
</file>