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4471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95A4"/>
          </a:solidFill>
          <a:ln w="12700">
            <a:solidFill>
              <a:srgbClr val="1495A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58368" y="329184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230" dirty="0">
                <a:solidFill>
                  <a:srgbClr val="1495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MODEL CANVAS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40080"/>
            <a:ext cx="10835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02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modèle en un coup d’œil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7512" y="112471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Neuf blocs pour transformer une solution technique en offre B2B récurrente.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09928"/>
            <a:ext cx="1975104" cy="33375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762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40080" y="1709928"/>
            <a:ext cx="1975104" cy="347472"/>
          </a:xfrm>
          <a:prstGeom prst="roundRect">
            <a:avLst>
              <a:gd name="adj" fmla="val 28947"/>
            </a:avLst>
          </a:prstGeom>
          <a:solidFill>
            <a:srgbClr val="173A56"/>
          </a:solidFill>
          <a:ln w="12700">
            <a:solidFill>
              <a:srgbClr val="173A5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77240" y="1773936"/>
            <a:ext cx="17007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 PARTENAIRES CLÉS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157984"/>
            <a:ext cx="1700784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Fournisseurs PV / batteries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SonoSolar (piste)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Sika, Eurocables (pistes)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Frigoristes, carrossiers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100" dirty="0" err="1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Centres</a:t>
            </a:r>
            <a:r>
              <a:rPr lang="en-US" sz="110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Formation, acteurs locaux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1709928"/>
            <a:ext cx="1956816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762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697480" y="1709928"/>
            <a:ext cx="1956816" cy="347472"/>
          </a:xfrm>
          <a:prstGeom prst="roundRect">
            <a:avLst>
              <a:gd name="adj" fmla="val 28947"/>
            </a:avLst>
          </a:prstGeom>
          <a:solidFill>
            <a:srgbClr val="173A56"/>
          </a:solidFill>
          <a:ln w="12700">
            <a:solidFill>
              <a:srgbClr val="173A5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834640" y="1773936"/>
            <a:ext cx="1682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 ACTIVITÉS CLÉS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2157984"/>
            <a:ext cx="16824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Étude énergétique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Devis / dimensionnement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Pose et essais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Maintenance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2697480" y="3419856"/>
            <a:ext cx="1956816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762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697480" y="3419856"/>
            <a:ext cx="1956816" cy="347472"/>
          </a:xfrm>
          <a:prstGeom prst="roundRect">
            <a:avLst>
              <a:gd name="adj" fmla="val 28947"/>
            </a:avLst>
          </a:prstGeom>
          <a:solidFill>
            <a:srgbClr val="173A56"/>
          </a:solidFill>
          <a:ln w="12700">
            <a:solidFill>
              <a:srgbClr val="173A5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834640" y="3483864"/>
            <a:ext cx="1682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 RESSOURCES CLÉS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4640" y="3867912"/>
            <a:ext cx="16824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Expertise du terrain: - </a:t>
            </a:r>
            <a:r>
              <a:rPr lang="en-US" sz="1050" dirty="0" err="1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fondatrice</a:t>
            </a:r>
            <a:r>
              <a:rPr lang="en-US" sz="105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vivant à Abidjan </a:t>
            </a:r>
          </a:p>
          <a:p>
            <a:pPr marL="0" indent="0" algn="l">
              <a:buNone/>
            </a:pPr>
            <a:endParaRPr lang="en-US" sz="1050" dirty="0">
              <a:solidFill>
                <a:srgbClr val="173148"/>
              </a:solidFill>
              <a:latin typeface="Aptos" pitchFamily="34" charset="0"/>
            </a:endParaRPr>
          </a:p>
          <a:p>
            <a:pPr marL="171450" indent="-171450" algn="l">
              <a:buFontTx/>
              <a:buChar char="-"/>
            </a:pPr>
            <a:r>
              <a:rPr lang="en-US" sz="1050" dirty="0">
                <a:solidFill>
                  <a:srgbClr val="173148"/>
                </a:solidFill>
                <a:latin typeface="Aptos" pitchFamily="34" charset="0"/>
              </a:rPr>
              <a:t>Expertise technique du </a:t>
            </a:r>
            <a:r>
              <a:rPr lang="en-US" sz="1050" dirty="0" err="1">
                <a:solidFill>
                  <a:srgbClr val="173148"/>
                </a:solidFill>
                <a:latin typeface="Aptos" pitchFamily="34" charset="0"/>
              </a:rPr>
              <a:t>secteur</a:t>
            </a:r>
            <a:r>
              <a:rPr lang="en-US" sz="1050" dirty="0">
                <a:solidFill>
                  <a:srgbClr val="173148"/>
                </a:solidFill>
                <a:latin typeface="Aptos" pitchFamily="34" charset="0"/>
              </a:rPr>
              <a:t> de </a:t>
            </a:r>
            <a:r>
              <a:rPr lang="en-US" sz="1050" dirty="0" err="1">
                <a:solidFill>
                  <a:srgbClr val="173148"/>
                </a:solidFill>
                <a:latin typeface="Aptos" pitchFamily="34" charset="0"/>
              </a:rPr>
              <a:t>l’automobile</a:t>
            </a:r>
            <a:endParaRPr lang="en-US" sz="1050" dirty="0">
              <a:solidFill>
                <a:srgbClr val="173148"/>
              </a:solidFill>
              <a:latin typeface="Aptos" pitchFamily="34" charset="0"/>
            </a:endParaRPr>
          </a:p>
          <a:p>
            <a:pPr marL="171450" indent="-171450" algn="l">
              <a:buFontTx/>
              <a:buChar char="-"/>
            </a:pPr>
            <a:endParaRPr lang="en-US" sz="1050" dirty="0">
              <a:solidFill>
                <a:srgbClr val="173148"/>
              </a:solidFill>
              <a:latin typeface="Aptos" pitchFamily="34" charset="0"/>
            </a:endParaRPr>
          </a:p>
          <a:p>
            <a:pPr marL="171450" indent="-171450" algn="l">
              <a:buFontTx/>
              <a:buChar char="-"/>
            </a:pPr>
            <a:r>
              <a:rPr lang="en-US" sz="1050" dirty="0">
                <a:solidFill>
                  <a:srgbClr val="173148"/>
                </a:solidFill>
                <a:latin typeface="Aptos" pitchFamily="34" charset="0"/>
              </a:rPr>
              <a:t>Expertise </a:t>
            </a:r>
            <a:r>
              <a:rPr lang="en-US" sz="1050" dirty="0" err="1">
                <a:solidFill>
                  <a:srgbClr val="173148"/>
                </a:solidFill>
                <a:latin typeface="Aptos" pitchFamily="34" charset="0"/>
              </a:rPr>
              <a:t>énergétique</a:t>
            </a:r>
            <a:r>
              <a:rPr lang="en-US" sz="1050" dirty="0">
                <a:solidFill>
                  <a:srgbClr val="173148"/>
                </a:solidFill>
                <a:latin typeface="Aptos" pitchFamily="34" charset="0"/>
              </a:rPr>
              <a:t> et </a:t>
            </a:r>
            <a:r>
              <a:rPr lang="en-US" sz="1050" dirty="0" err="1">
                <a:solidFill>
                  <a:srgbClr val="173148"/>
                </a:solidFill>
                <a:latin typeface="Aptos" pitchFamily="34" charset="0"/>
              </a:rPr>
              <a:t>technologique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36592" y="1709928"/>
            <a:ext cx="2880360" cy="33375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762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736592" y="1709928"/>
            <a:ext cx="2880360" cy="347472"/>
          </a:xfrm>
          <a:prstGeom prst="roundRect">
            <a:avLst>
              <a:gd name="adj" fmla="val 28947"/>
            </a:avLst>
          </a:prstGeom>
          <a:solidFill>
            <a:srgbClr val="1495A4"/>
          </a:solidFill>
          <a:ln w="12700">
            <a:solidFill>
              <a:srgbClr val="1495A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873752" y="1773936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PROPOSITION DE VALEUR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73752" y="2157984"/>
            <a:ext cx="260604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280" b="1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 wrap </a:t>
            </a:r>
            <a:r>
              <a:rPr lang="en-US" sz="1280" b="1" dirty="0" err="1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sécurise</a:t>
            </a:r>
            <a:r>
              <a:rPr lang="en-US" sz="1280" b="1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la </a:t>
            </a:r>
            <a:r>
              <a:rPr lang="en-US" sz="1280" b="1" dirty="0" err="1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chaîne</a:t>
            </a:r>
            <a:r>
              <a:rPr lang="en-US" sz="1280" b="1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1280" b="1" dirty="0" err="1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froid</a:t>
            </a:r>
            <a:r>
              <a:rPr lang="en-US" sz="1280" b="1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et </a:t>
            </a:r>
            <a:r>
              <a:rPr lang="en-US" sz="1280" b="1" dirty="0" err="1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réduit</a:t>
            </a:r>
            <a:r>
              <a:rPr lang="en-US" sz="1280" b="1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les </a:t>
            </a:r>
            <a:r>
              <a:rPr lang="en-US" sz="1280" b="1" dirty="0" err="1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coûts</a:t>
            </a:r>
            <a:r>
              <a:rPr lang="en-US" sz="1280" b="1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80" b="1" dirty="0" err="1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énergétiques</a:t>
            </a:r>
            <a:r>
              <a:rPr lang="en-US" sz="1280" b="1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80" b="1" dirty="0" err="1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1280" b="1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80" b="1" dirty="0" err="1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assurant</a:t>
            </a:r>
            <a:r>
              <a:rPr lang="en-US" sz="1280" b="1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80" b="1" dirty="0" err="1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</a:t>
            </a:r>
            <a:r>
              <a:rPr lang="en-US" sz="1280" b="1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80" b="1" dirty="0" err="1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autonomie</a:t>
            </a:r>
            <a:r>
              <a:rPr lang="en-US" sz="1280" b="1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80" b="1" dirty="0" err="1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électrique</a:t>
            </a:r>
            <a:r>
              <a:rPr lang="en-US" sz="1280" b="1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du </a:t>
            </a:r>
            <a:r>
              <a:rPr lang="en-US" sz="1280" b="1" dirty="0" err="1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groupe</a:t>
            </a:r>
            <a:r>
              <a:rPr lang="en-US" sz="1280" b="1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80" b="1" dirty="0" err="1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frigorifique</a:t>
            </a:r>
            <a:r>
              <a:rPr lang="en-US" sz="1280" b="1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endParaRPr lang="en-US" sz="1280" b="1" dirty="0"/>
          </a:p>
          <a:p>
            <a:pPr marL="0" indent="0" algn="l">
              <a:buNone/>
            </a:pPr>
            <a:endParaRPr lang="en-US" sz="1280" dirty="0"/>
          </a:p>
          <a:p>
            <a:pPr marL="0" indent="0" algn="l">
              <a:buNone/>
            </a:pP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7699248" y="1709928"/>
            <a:ext cx="1956816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762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7699248" y="1709928"/>
            <a:ext cx="1956816" cy="347472"/>
          </a:xfrm>
          <a:prstGeom prst="roundRect">
            <a:avLst>
              <a:gd name="adj" fmla="val 28947"/>
            </a:avLst>
          </a:prstGeom>
          <a:solidFill>
            <a:srgbClr val="173A56"/>
          </a:solidFill>
          <a:ln w="12700">
            <a:solidFill>
              <a:srgbClr val="173A5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7836408" y="1773936"/>
            <a:ext cx="1682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RELATIONS CLIENTS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836408" y="2157984"/>
            <a:ext cx="16824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70" dirty="0" err="1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Accompagnement</a:t>
            </a:r>
            <a:r>
              <a:rPr lang="en-US" sz="107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clientèle </a:t>
            </a:r>
            <a:r>
              <a:rPr lang="en-US" sz="1070" dirty="0" err="1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dédié</a:t>
            </a:r>
            <a:r>
              <a:rPr lang="en-US" sz="1070" dirty="0"/>
              <a:t>, </a:t>
            </a:r>
            <a:r>
              <a:rPr lang="en-US" sz="107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</a:t>
            </a:r>
          </a:p>
          <a:p>
            <a:pPr marL="0" indent="0" algn="l">
              <a:buNone/>
            </a:pPr>
            <a:r>
              <a:rPr lang="en-US" sz="107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Assistance  et </a:t>
            </a:r>
            <a:r>
              <a:rPr lang="en-US" sz="1070" dirty="0" err="1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suivi</a:t>
            </a:r>
            <a:r>
              <a:rPr lang="en-US" sz="107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 helpdesk 7/7/24h</a:t>
            </a:r>
            <a:endParaRPr lang="en-US" sz="1070" dirty="0"/>
          </a:p>
        </p:txBody>
      </p:sp>
      <p:sp>
        <p:nvSpPr>
          <p:cNvPr id="26" name="Shape 24"/>
          <p:cNvSpPr/>
          <p:nvPr/>
        </p:nvSpPr>
        <p:spPr>
          <a:xfrm>
            <a:off x="7699248" y="3419856"/>
            <a:ext cx="1956816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762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7699248" y="3419856"/>
            <a:ext cx="1956816" cy="347472"/>
          </a:xfrm>
          <a:prstGeom prst="roundRect">
            <a:avLst>
              <a:gd name="adj" fmla="val 28947"/>
            </a:avLst>
          </a:prstGeom>
          <a:solidFill>
            <a:srgbClr val="173A56"/>
          </a:solidFill>
          <a:ln w="12700">
            <a:solidFill>
              <a:srgbClr val="173A5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7836408" y="3483864"/>
            <a:ext cx="1682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CANAUX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836408" y="3867912"/>
            <a:ext cx="16824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Prospection B2B</a:t>
            </a:r>
          </a:p>
          <a:p>
            <a:pPr marL="0" indent="0" algn="l">
              <a:buNone/>
            </a:pPr>
            <a:r>
              <a:rPr lang="en-US" sz="1070" dirty="0" err="1">
                <a:solidFill>
                  <a:srgbClr val="173148"/>
                </a:solidFill>
                <a:latin typeface="Aptos" pitchFamily="34" charset="0"/>
              </a:rPr>
              <a:t>Annuaire</a:t>
            </a:r>
            <a:r>
              <a:rPr lang="en-US" sz="1070" dirty="0">
                <a:solidFill>
                  <a:srgbClr val="173148"/>
                </a:solidFill>
                <a:latin typeface="Aptos" pitchFamily="34" charset="0"/>
              </a:rPr>
              <a:t> CEPICI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Chambre de </a:t>
            </a:r>
            <a:r>
              <a:rPr lang="en-US" sz="1070" dirty="0" err="1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Commerca</a:t>
            </a:r>
            <a:r>
              <a:rPr lang="en-US" sz="107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Française à Abidjan</a:t>
            </a:r>
          </a:p>
          <a:p>
            <a:pPr marL="0" indent="0" algn="l">
              <a:buNone/>
            </a:pPr>
            <a:r>
              <a:rPr lang="en-US" sz="1070" dirty="0" err="1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Patronat</a:t>
            </a:r>
            <a:r>
              <a:rPr lang="en-US" sz="107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070" dirty="0" err="1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Ivoirien</a:t>
            </a:r>
            <a:endParaRPr lang="en-US" sz="1070" dirty="0">
              <a:solidFill>
                <a:srgbClr val="173148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l">
              <a:buNone/>
            </a:pPr>
            <a:r>
              <a:rPr lang="en-US" sz="107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LinkedIn / réseaux</a:t>
            </a:r>
            <a:endParaRPr lang="en-US" sz="1070" dirty="0"/>
          </a:p>
          <a:p>
            <a:pPr marL="0" indent="0" algn="l">
              <a:buNone/>
            </a:pPr>
            <a:r>
              <a:rPr lang="en-US" sz="107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Salons </a:t>
            </a:r>
            <a:r>
              <a:rPr lang="en-US" sz="1070" dirty="0" err="1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ciblés</a:t>
            </a:r>
            <a:r>
              <a:rPr lang="en-US" sz="1070" dirty="0"/>
              <a:t> (</a:t>
            </a:r>
            <a:r>
              <a:rPr lang="en-US" sz="1070" dirty="0" err="1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Pilotes</a:t>
            </a:r>
            <a:r>
              <a:rPr lang="en-US" sz="107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/ demonstrations): </a:t>
            </a:r>
            <a:r>
              <a:rPr lang="en-US" sz="1070" b="1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SIREXE</a:t>
            </a:r>
            <a:r>
              <a:rPr lang="en-US" sz="107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9738360" y="1709928"/>
            <a:ext cx="1975104" cy="3337560"/>
          </a:xfrm>
          <a:prstGeom prst="roundRect">
            <a:avLst>
              <a:gd name="adj" fmla="val 5556"/>
            </a:avLst>
          </a:prstGeom>
          <a:solidFill>
            <a:schemeClr val="accent4">
              <a:lumMod val="20000"/>
              <a:lumOff val="80000"/>
            </a:schemeClr>
          </a:solidFill>
          <a:ln w="762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9738360" y="1709928"/>
            <a:ext cx="1975104" cy="347472"/>
          </a:xfrm>
          <a:prstGeom prst="roundRect">
            <a:avLst>
              <a:gd name="adj" fmla="val 28947"/>
            </a:avLst>
          </a:prstGeom>
          <a:solidFill>
            <a:srgbClr val="FFFF00"/>
          </a:solidFill>
          <a:ln w="12700">
            <a:solidFill>
              <a:srgbClr val="173A5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>
              <a:solidFill>
                <a:srgbClr val="FF0000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9875520" y="1773936"/>
            <a:ext cx="17007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SEGMENTS CLIENTS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9875520" y="2157984"/>
            <a:ext cx="1700784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120" dirty="0" err="1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Transporteurs</a:t>
            </a:r>
            <a:r>
              <a:rPr lang="en-US" sz="112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20" dirty="0" err="1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frigorifiques</a:t>
            </a:r>
            <a:r>
              <a:rPr lang="en-US" sz="112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dans </a:t>
            </a:r>
            <a:r>
              <a:rPr lang="en-US" sz="1120" dirty="0" err="1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l’agro-alimentaire</a:t>
            </a:r>
            <a:r>
              <a:rPr lang="en-US" sz="112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20" dirty="0" err="1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112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Côte d’Ivoire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Décideurs : logistique, technique, direction générale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640080" y="5157216"/>
            <a:ext cx="5344668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762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640080" y="5157216"/>
            <a:ext cx="5344668" cy="347472"/>
          </a:xfrm>
          <a:prstGeom prst="roundRect">
            <a:avLst>
              <a:gd name="adj" fmla="val 28947"/>
            </a:avLst>
          </a:prstGeom>
          <a:solidFill>
            <a:srgbClr val="173A56"/>
          </a:solidFill>
          <a:ln w="12700">
            <a:solidFill>
              <a:srgbClr val="173A5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777240" y="5221224"/>
            <a:ext cx="50703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 STRUCTURE DE COÛTS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77240" y="5605272"/>
            <a:ext cx="50703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Équipements et stockage • Import des </a:t>
            </a:r>
            <a:r>
              <a:rPr lang="en-US" sz="1110" dirty="0" err="1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équipements</a:t>
            </a:r>
            <a:r>
              <a:rPr lang="en-US" sz="111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• Pose  </a:t>
            </a:r>
          </a:p>
          <a:p>
            <a:pPr marL="0" indent="0" algn="l">
              <a:buNone/>
            </a:pPr>
            <a:r>
              <a:rPr lang="en-US" sz="111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Charges  • Assurances • Formation • SAV</a:t>
            </a:r>
            <a:endParaRPr lang="en-US" sz="1110" dirty="0"/>
          </a:p>
        </p:txBody>
      </p:sp>
      <p:sp>
        <p:nvSpPr>
          <p:cNvPr id="38" name="Shape 36"/>
          <p:cNvSpPr/>
          <p:nvPr/>
        </p:nvSpPr>
        <p:spPr>
          <a:xfrm>
            <a:off x="6067044" y="5157216"/>
            <a:ext cx="5344668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762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6067044" y="5157216"/>
            <a:ext cx="5344668" cy="347472"/>
          </a:xfrm>
          <a:prstGeom prst="roundRect">
            <a:avLst>
              <a:gd name="adj" fmla="val 28947"/>
            </a:avLst>
          </a:prstGeom>
          <a:solidFill>
            <a:srgbClr val="2D9A7E"/>
          </a:solidFill>
          <a:ln w="12700">
            <a:solidFill>
              <a:srgbClr val="2D9A7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6204204" y="5221224"/>
            <a:ext cx="50703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 SOURCES DE REVENUS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31052" y="5541263"/>
            <a:ext cx="52806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800" dirty="0" err="1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Coût</a:t>
            </a:r>
            <a:r>
              <a:rPr lang="en-US" sz="80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800" dirty="0" err="1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l’installation</a:t>
            </a:r>
            <a:r>
              <a:rPr lang="en-US" sz="80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du Kit : 7 500 € par </a:t>
            </a:r>
            <a:r>
              <a:rPr lang="en-US" sz="800" dirty="0" err="1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véhicule</a:t>
            </a:r>
            <a:r>
              <a:rPr lang="en-US" sz="800" dirty="0">
                <a:solidFill>
                  <a:srgbClr val="1731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|</a:t>
            </a:r>
          </a:p>
          <a:p>
            <a:pPr marL="0" indent="0" algn="l">
              <a:buNone/>
            </a:pPr>
            <a:endParaRPr lang="en-US" sz="800" dirty="0">
              <a:solidFill>
                <a:srgbClr val="173148"/>
              </a:solidFill>
              <a:latin typeface="Aptos" pitchFamily="34" charset="0"/>
            </a:endParaRPr>
          </a:p>
          <a:p>
            <a:pPr marL="0" indent="0" algn="l">
              <a:buNone/>
            </a:pPr>
            <a:r>
              <a:rPr lang="en-US" sz="800" dirty="0">
                <a:solidFill>
                  <a:srgbClr val="173148"/>
                </a:solidFill>
                <a:latin typeface="Aptos" pitchFamily="34" charset="0"/>
              </a:rPr>
              <a:t>Etude 5% / </a:t>
            </a:r>
            <a:r>
              <a:rPr lang="en-US" sz="800" dirty="0" err="1">
                <a:solidFill>
                  <a:srgbClr val="173148"/>
                </a:solidFill>
                <a:latin typeface="Aptos" pitchFamily="34" charset="0"/>
              </a:rPr>
              <a:t>Fourniture</a:t>
            </a:r>
            <a:r>
              <a:rPr lang="en-US" sz="800" dirty="0">
                <a:solidFill>
                  <a:srgbClr val="173148"/>
                </a:solidFill>
                <a:latin typeface="Aptos" pitchFamily="34" charset="0"/>
              </a:rPr>
              <a:t> 5% / Installation et mise </a:t>
            </a:r>
            <a:r>
              <a:rPr lang="en-US" sz="800" dirty="0" err="1">
                <a:solidFill>
                  <a:srgbClr val="173148"/>
                </a:solidFill>
                <a:latin typeface="Aptos" pitchFamily="34" charset="0"/>
              </a:rPr>
              <a:t>en</a:t>
            </a:r>
            <a:r>
              <a:rPr lang="en-US" sz="800" dirty="0">
                <a:solidFill>
                  <a:srgbClr val="173148"/>
                </a:solidFill>
                <a:latin typeface="Aptos" pitchFamily="34" charset="0"/>
              </a:rPr>
              <a:t> service 70% / Maintenance 20% (des </a:t>
            </a:r>
            <a:r>
              <a:rPr lang="en-US" sz="800" dirty="0" err="1">
                <a:solidFill>
                  <a:srgbClr val="173148"/>
                </a:solidFill>
                <a:latin typeface="Aptos" pitchFamily="34" charset="0"/>
              </a:rPr>
              <a:t>contrats</a:t>
            </a:r>
            <a:r>
              <a:rPr lang="en-US" sz="800" dirty="0">
                <a:solidFill>
                  <a:srgbClr val="173148"/>
                </a:solidFill>
                <a:latin typeface="Aptos" pitchFamily="34" charset="0"/>
              </a:rPr>
              <a:t> de 1 an de maintenance à </a:t>
            </a:r>
            <a:r>
              <a:rPr lang="en-US" sz="800" dirty="0" err="1">
                <a:solidFill>
                  <a:srgbClr val="173148"/>
                </a:solidFill>
                <a:latin typeface="Aptos" pitchFamily="34" charset="0"/>
              </a:rPr>
              <a:t>renouveller</a:t>
            </a:r>
            <a:r>
              <a:rPr lang="en-US" sz="800" dirty="0">
                <a:solidFill>
                  <a:srgbClr val="173148"/>
                </a:solidFill>
                <a:latin typeface="Aptos" pitchFamily="34" charset="0"/>
              </a:rPr>
              <a:t> </a:t>
            </a:r>
            <a:r>
              <a:rPr lang="en-US" sz="800" dirty="0" err="1">
                <a:solidFill>
                  <a:srgbClr val="173148"/>
                </a:solidFill>
                <a:latin typeface="Aptos" pitchFamily="34" charset="0"/>
              </a:rPr>
              <a:t>chaque</a:t>
            </a:r>
            <a:r>
              <a:rPr lang="en-US" sz="800" dirty="0">
                <a:solidFill>
                  <a:srgbClr val="173148"/>
                </a:solidFill>
                <a:latin typeface="Aptos" pitchFamily="34" charset="0"/>
              </a:rPr>
              <a:t> </a:t>
            </a:r>
            <a:r>
              <a:rPr lang="en-US" sz="800" dirty="0" err="1">
                <a:solidFill>
                  <a:srgbClr val="173148"/>
                </a:solidFill>
                <a:latin typeface="Aptos" pitchFamily="34" charset="0"/>
              </a:rPr>
              <a:t>année</a:t>
            </a:r>
            <a:r>
              <a:rPr lang="en-US" sz="800" dirty="0">
                <a:solidFill>
                  <a:srgbClr val="173148"/>
                </a:solidFill>
                <a:latin typeface="Aptos" pitchFamily="34" charset="0"/>
              </a:rPr>
              <a:t>)</a:t>
            </a:r>
          </a:p>
          <a:p>
            <a:pPr marL="0" indent="0" algn="l">
              <a:buNone/>
            </a:pPr>
            <a:endParaRPr lang="en-US" sz="800" dirty="0">
              <a:solidFill>
                <a:srgbClr val="173148"/>
              </a:solidFill>
              <a:latin typeface="Aptos" pitchFamily="34" charset="0"/>
            </a:endParaRPr>
          </a:p>
          <a:p>
            <a:pPr marL="0" indent="0" algn="l">
              <a:buNone/>
            </a:pPr>
            <a:r>
              <a:rPr lang="en-US" sz="800" dirty="0">
                <a:solidFill>
                  <a:srgbClr val="173148"/>
                </a:solidFill>
                <a:latin typeface="Aptos" pitchFamily="34" charset="0"/>
              </a:rPr>
              <a:t>Ques-</a:t>
            </a:r>
            <a:r>
              <a:rPr lang="en-US" sz="800" dirty="0" err="1">
                <a:solidFill>
                  <a:srgbClr val="173148"/>
                </a:solidFill>
                <a:latin typeface="Aptos" pitchFamily="34" charset="0"/>
              </a:rPr>
              <a:t>ce</a:t>
            </a:r>
            <a:r>
              <a:rPr lang="en-US" sz="800" dirty="0">
                <a:solidFill>
                  <a:srgbClr val="173148"/>
                </a:solidFill>
                <a:latin typeface="Aptos" pitchFamily="34" charset="0"/>
              </a:rPr>
              <a:t> </a:t>
            </a:r>
            <a:r>
              <a:rPr lang="en-US" sz="800" dirty="0" err="1">
                <a:solidFill>
                  <a:srgbClr val="173148"/>
                </a:solidFill>
                <a:latin typeface="Aptos" pitchFamily="34" charset="0"/>
              </a:rPr>
              <a:t>qu’ils</a:t>
            </a:r>
            <a:r>
              <a:rPr lang="en-US" sz="800" dirty="0">
                <a:solidFill>
                  <a:srgbClr val="173148"/>
                </a:solidFill>
                <a:latin typeface="Aptos" pitchFamily="34" charset="0"/>
              </a:rPr>
              <a:t> </a:t>
            </a:r>
            <a:r>
              <a:rPr lang="en-US" sz="800" dirty="0" err="1">
                <a:solidFill>
                  <a:srgbClr val="173148"/>
                </a:solidFill>
                <a:latin typeface="Aptos" pitchFamily="34" charset="0"/>
              </a:rPr>
              <a:t>paient</a:t>
            </a:r>
            <a:r>
              <a:rPr lang="en-US" sz="800" dirty="0">
                <a:solidFill>
                  <a:srgbClr val="173148"/>
                </a:solidFill>
                <a:latin typeface="Aptos" pitchFamily="34" charset="0"/>
              </a:rPr>
              <a:t>: </a:t>
            </a:r>
          </a:p>
          <a:p>
            <a:pPr marL="0" indent="0" algn="l">
              <a:buNone/>
            </a:pPr>
            <a:r>
              <a:rPr lang="en-US" sz="800" b="1" dirty="0" err="1">
                <a:solidFill>
                  <a:srgbClr val="173148"/>
                </a:solidFill>
                <a:latin typeface="Aptos" pitchFamily="34" charset="0"/>
              </a:rPr>
              <a:t>Produit</a:t>
            </a:r>
            <a:r>
              <a:rPr lang="en-US" sz="800" b="1" dirty="0">
                <a:solidFill>
                  <a:srgbClr val="173148"/>
                </a:solidFill>
                <a:latin typeface="Aptos" pitchFamily="34" charset="0"/>
              </a:rPr>
              <a:t> N°1</a:t>
            </a:r>
            <a:r>
              <a:rPr lang="en-US" sz="800" dirty="0">
                <a:solidFill>
                  <a:srgbClr val="173148"/>
                </a:solidFill>
                <a:latin typeface="Aptos" pitchFamily="34" charset="0"/>
              </a:rPr>
              <a:t>: 7500 Euros qui correspond à la </a:t>
            </a:r>
            <a:r>
              <a:rPr lang="en-US" sz="800" dirty="0" err="1">
                <a:solidFill>
                  <a:srgbClr val="173148"/>
                </a:solidFill>
                <a:latin typeface="Aptos" pitchFamily="34" charset="0"/>
              </a:rPr>
              <a:t>fourniture</a:t>
            </a:r>
            <a:r>
              <a:rPr lang="en-US" sz="800" dirty="0">
                <a:solidFill>
                  <a:srgbClr val="173148"/>
                </a:solidFill>
                <a:latin typeface="Aptos" pitchFamily="34" charset="0"/>
              </a:rPr>
              <a:t>, </a:t>
            </a:r>
            <a:r>
              <a:rPr lang="en-US" sz="800" dirty="0" err="1">
                <a:solidFill>
                  <a:srgbClr val="173148"/>
                </a:solidFill>
                <a:latin typeface="Aptos" pitchFamily="34" charset="0"/>
              </a:rPr>
              <a:t>l’étude</a:t>
            </a:r>
            <a:r>
              <a:rPr lang="en-US" sz="800" dirty="0">
                <a:solidFill>
                  <a:srgbClr val="173148"/>
                </a:solidFill>
                <a:latin typeface="Aptos" pitchFamily="34" charset="0"/>
              </a:rPr>
              <a:t> et la mise </a:t>
            </a:r>
            <a:r>
              <a:rPr lang="en-US" sz="800" dirty="0" err="1">
                <a:solidFill>
                  <a:srgbClr val="173148"/>
                </a:solidFill>
                <a:latin typeface="Aptos" pitchFamily="34" charset="0"/>
              </a:rPr>
              <a:t>en</a:t>
            </a:r>
            <a:r>
              <a:rPr lang="en-US" sz="800" dirty="0">
                <a:solidFill>
                  <a:srgbClr val="173148"/>
                </a:solidFill>
                <a:latin typeface="Aptos" pitchFamily="34" charset="0"/>
              </a:rPr>
              <a:t> service</a:t>
            </a:r>
          </a:p>
          <a:p>
            <a:pPr marL="0" indent="0" algn="l">
              <a:buNone/>
            </a:pPr>
            <a:endParaRPr lang="en-US" sz="800" dirty="0">
              <a:solidFill>
                <a:srgbClr val="173148"/>
              </a:solidFill>
              <a:latin typeface="Aptos" pitchFamily="34" charset="0"/>
            </a:endParaRPr>
          </a:p>
          <a:p>
            <a:pPr marL="0" indent="0" algn="l">
              <a:buNone/>
            </a:pPr>
            <a:r>
              <a:rPr lang="en-US" sz="800" b="1" dirty="0" err="1">
                <a:solidFill>
                  <a:srgbClr val="173148"/>
                </a:solidFill>
                <a:latin typeface="Aptos" pitchFamily="34" charset="0"/>
              </a:rPr>
              <a:t>Produit</a:t>
            </a:r>
            <a:r>
              <a:rPr lang="en-US" sz="800" b="1" dirty="0">
                <a:solidFill>
                  <a:srgbClr val="173148"/>
                </a:solidFill>
                <a:latin typeface="Aptos" pitchFamily="34" charset="0"/>
              </a:rPr>
              <a:t> N°2</a:t>
            </a:r>
            <a:r>
              <a:rPr lang="en-US" sz="800" dirty="0">
                <a:solidFill>
                  <a:srgbClr val="173148"/>
                </a:solidFill>
                <a:latin typeface="Aptos" pitchFamily="34" charset="0"/>
              </a:rPr>
              <a:t>: Abonnement maintenance de 30 Euros par </a:t>
            </a:r>
            <a:r>
              <a:rPr lang="en-US" sz="800" dirty="0" err="1">
                <a:solidFill>
                  <a:srgbClr val="173148"/>
                </a:solidFill>
                <a:latin typeface="Aptos" pitchFamily="34" charset="0"/>
              </a:rPr>
              <a:t>mois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58368" y="6601968"/>
            <a:ext cx="10863072" cy="0"/>
          </a:xfrm>
          <a:prstGeom prst="line">
            <a:avLst/>
          </a:prstGeom>
          <a:noFill/>
          <a:ln w="10160">
            <a:solidFill>
              <a:srgbClr val="DCE6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658368" y="6629400"/>
            <a:ext cx="10332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 fidèle au fichier source. Partenaires et hypothèses tarifaires : à confirmer.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137392" y="6611112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298</Words>
  <Application>Microsoft Office PowerPoint</Application>
  <PresentationFormat>Grand écran</PresentationFormat>
  <Paragraphs>50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Theme</vt:lpstr>
      <vt:lpstr>Présentation PowerPoint</vt:lpstr>
    </vt:vector>
  </TitlesOfParts>
  <Company>SOLAR WRAP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 WRAP | Business Model Canvas</dc:title>
  <dc:subject>Business Model Canvas - mise en forme du fichier 06-plan-action/BUSINESS MODEL CANEVAS.docx</dc:subject>
  <dc:creator>SOLAR WRAP - Projet HEC Groupe 8</dc:creator>
  <cp:lastModifiedBy>KACOU N'GUETTA ANO BLA EDWIGE</cp:lastModifiedBy>
  <cp:revision>10</cp:revision>
  <dcterms:created xsi:type="dcterms:W3CDTF">2026-10-29T08:42:17Z</dcterms:created>
  <dcterms:modified xsi:type="dcterms:W3CDTF">2026-10-29T10:00:55Z</dcterms:modified>
</cp:coreProperties>
</file>