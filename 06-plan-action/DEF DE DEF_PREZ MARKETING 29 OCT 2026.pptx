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62" r:id="rId4"/>
    <p:sldId id="25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2334E-666A-4CA4-81FC-4AE84C67DEA2}" v="18" dt="2026-10-29T10:57:44.20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Style léger 2 - Accentuatio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17C909-B2BD-9841-DC2F-E967B3796D3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4457FA2-3CE8-4860-1C8B-904A36EF3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237FACA-AFC3-44DE-5919-4B7224D76361}"/>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B929DE0F-8C23-7C5F-BEE1-CE0343E9BA5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5D6B651-9D3F-5C9E-D468-7FA859E97A5F}"/>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3547858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C38944-9966-11DB-B69B-136ABCB6822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35622C1-4C5A-728E-ECDF-4620C942DC9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0FD893-0861-672E-830F-454D26EBDA96}"/>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F304293D-9389-B930-1857-7E0696CB92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F0A1430-5FEA-C343-2463-5BB3FF8F1CDA}"/>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1026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BA5D92-D321-2944-6EEF-AAF63DF40A3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DC8541D-3109-46A5-2FB9-7D4D3CFFCF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0F96C99-032A-135B-7374-629F33B03F87}"/>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C87ADE10-4DAF-2F36-2F14-9C496F5C9E9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3FCD24-8D37-604F-D024-EED32BC235C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1827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BDC1EB-BCA6-DE55-8BCB-1F81A2AACA0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6EF1B41-2252-ADB6-9C31-E32D604F2E2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6BF2C85-9596-79C2-75F5-9C9CF91F327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E135A8F-0298-64AB-198D-48BECD83DFA7}"/>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6" name="Espace réservé du pied de page 5">
            <a:extLst>
              <a:ext uri="{FF2B5EF4-FFF2-40B4-BE49-F238E27FC236}">
                <a16:creationId xmlns:a16="http://schemas.microsoft.com/office/drawing/2014/main" id="{73933A47-374A-7527-01BD-7CB762A5B82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56F2483-1E6C-FBFD-B61C-E91D543F2227}"/>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99325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58F8B-A8FB-1248-14BA-D0CB87F4912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B85C4D9-8BAA-9565-2AF8-BC00F6E3A8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903E953-C93A-1074-A85F-C6F9521BBB0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82A7AD6-C1A6-C466-C869-85AE28F6CA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5A83F10-1D81-4FE0-703A-C9C97E433D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42F81B3-0065-3419-8F54-B10EED233ECF}"/>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8" name="Espace réservé du pied de page 7">
            <a:extLst>
              <a:ext uri="{FF2B5EF4-FFF2-40B4-BE49-F238E27FC236}">
                <a16:creationId xmlns:a16="http://schemas.microsoft.com/office/drawing/2014/main" id="{C2D0248C-C5D5-9EF0-7BC8-78D25566EE9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600D085-9D53-41FD-0422-4B5070E13213}"/>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127833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D91AD3-970F-E682-C8C7-1F556FCF93B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CF282A1-68DB-F8D9-791F-9CF1EEC506C0}"/>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4" name="Espace réservé du pied de page 3">
            <a:extLst>
              <a:ext uri="{FF2B5EF4-FFF2-40B4-BE49-F238E27FC236}">
                <a16:creationId xmlns:a16="http://schemas.microsoft.com/office/drawing/2014/main" id="{961E1615-5F11-7410-DE2D-BD6D9796375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8DBAFC1-2EAE-47C3-4135-8040CDAE22A3}"/>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62690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0C876C9-F87F-A60C-5283-3C7600A44376}"/>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3" name="Espace réservé du pied de page 2">
            <a:extLst>
              <a:ext uri="{FF2B5EF4-FFF2-40B4-BE49-F238E27FC236}">
                <a16:creationId xmlns:a16="http://schemas.microsoft.com/office/drawing/2014/main" id="{AE465639-B2BA-142E-1714-2A121816501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0C517A6-3D99-ED8F-A1A2-08CA4C04231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3585176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057921-8B37-0E9D-0327-8D91FCA5B95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A9FFDF3-772D-1A8C-8192-9E0B15F65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AA425E0-CC82-5B1D-1D74-46D784EE9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E59D77-FD6E-7D34-F61E-F49FC0E276E1}"/>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6" name="Espace réservé du pied de page 5">
            <a:extLst>
              <a:ext uri="{FF2B5EF4-FFF2-40B4-BE49-F238E27FC236}">
                <a16:creationId xmlns:a16="http://schemas.microsoft.com/office/drawing/2014/main" id="{6E7AB7B7-D1BF-311E-E12F-2465EB7291E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725DD52-7A58-4898-C035-52FD5232BE4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0662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04E607-667E-E3F4-4814-F8468320684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97A36EF-B29E-CA17-36FE-34F0E5FA8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2DD67D4-BAEC-8EDA-6D17-EF98643A58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16A352-CAD1-CE4B-E18D-BEC4C2911FFA}"/>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6" name="Espace réservé du pied de page 5">
            <a:extLst>
              <a:ext uri="{FF2B5EF4-FFF2-40B4-BE49-F238E27FC236}">
                <a16:creationId xmlns:a16="http://schemas.microsoft.com/office/drawing/2014/main" id="{B4DECB2B-3DF5-4997-491F-9E7749920EC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ACFFD17-04C8-B851-988B-D515783CB0AE}"/>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369230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74AB77-4E4D-7215-8D8F-33D87C10988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6D876A5-2BC7-5132-62C5-B4EA3270F78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9C688A5-82C9-BE3F-B36C-39DCE3CA1E6A}"/>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495874AE-FB38-3EC2-7C46-C5620E06B1A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71DCD46-B9B3-9585-D924-3DB8EFA7D60C}"/>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231241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7E97729-D511-3BF6-44A9-BDCB5F60088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39427BB-E7D7-9A40-0628-E4F54EED4E0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1B6BEE-69D6-4A02-8D92-F73AF05E3E22}"/>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3B8FFC8D-7B89-27B5-A1F4-C212D300C3F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EE332E8-6223-356A-B9D0-D1E73206A0C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70134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3CF548D-137D-41F3-D3DE-07F6B17BC5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EF16D26-97C0-858A-608A-A3501A7EC9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B78322F-DDDB-9137-B4F7-9231DD9EA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3B9AAC6C-5251-3167-E8E8-40F826EB17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055EC9D-1715-AE58-A060-AA7B72382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E563B2-1AE6-4C00-ADA1-7B961C22FDE9}" type="slidenum">
              <a:rPr lang="fr-FR" smtClean="0"/>
              <a:t>‹N°›</a:t>
            </a:fld>
            <a:endParaRPr lang="fr-FR"/>
          </a:p>
        </p:txBody>
      </p:sp>
    </p:spTree>
    <p:extLst>
      <p:ext uri="{BB962C8B-B14F-4D97-AF65-F5344CB8AC3E}">
        <p14:creationId xmlns:p14="http://schemas.microsoft.com/office/powerpoint/2010/main" val="2334210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BB7FC-6F02-7CF7-6CD0-7BC5D61CB116}"/>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6E253ABE-9F72-3FB3-395D-406A17370D16}"/>
              </a:ext>
            </a:extLst>
          </p:cNvPr>
          <p:cNvSpPr txBox="1"/>
          <p:nvPr/>
        </p:nvSpPr>
        <p:spPr>
          <a:xfrm>
            <a:off x="466344" y="693796"/>
            <a:ext cx="11073384" cy="5470408"/>
          </a:xfrm>
          <a:prstGeom prst="rect">
            <a:avLst/>
          </a:prstGeom>
          <a:noFill/>
        </p:spPr>
        <p:txBody>
          <a:bodyPr wrap="square">
            <a:spAutoFit/>
          </a:bodyPr>
          <a:lstStyle/>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SOLAR WRAP répond à un enjeu majeur de la logistique frigorifique : la continuité de l'alimentation électrique nécessaire à la conservation des marchandises sensibles à la température.</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 marché ivoirien présente des opportunités dans l'agroalimentaire, la distribution pharmaceutique et la logistique spécialisée. Les insuffisances de la chaîne du froid, les risques de pertes de marchandises et les besoins de fiabilité énergétique constituent des facteurs favorables au développement de solutions complémentaires.</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Notre recommandation est de positionner SOLAR WRAP comme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un spécialiste de la continuité énergétique des conteneurs frigorifiques mobiles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et non comme un simple installateur de panneaux solaires.</a:t>
            </a:r>
          </a:p>
          <a:p>
            <a:pPr>
              <a:lnSpc>
                <a:spcPct val="115000"/>
              </a:lnSpc>
              <a:spcAft>
                <a:spcPts val="800"/>
              </a:spcAft>
            </a:pPr>
            <a:endParaRPr lang="fr-FR"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NOS CIBLES</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Cœur de cible</a:t>
            </a:r>
            <a:r>
              <a:rPr lang="fr-FR" kern="100" dirty="0">
                <a:latin typeface="Aptos" panose="020B0004020202020204" pitchFamily="34" charset="0"/>
                <a:ea typeface="Aptos" panose="020B0004020202020204" pitchFamily="34" charset="0"/>
                <a:cs typeface="Times New Roman" panose="02020603050405020304" pitchFamily="18" charset="0"/>
              </a:rPr>
              <a:t>: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Les entreprises ivoiriennes exploitant des conteneurs frigorifiques de 10 à 30 pieds, montés sur camion ou remorque, et exposées à des périodes d'indisponibilité de leur alimentation électrique principale.</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Les interlocuteurs commerciaux seront principalement les directeurs d'exploitation, responsables logistiques, gestionnaires de flotte et responsables techniques.</a:t>
            </a:r>
          </a:p>
        </p:txBody>
      </p:sp>
    </p:spTree>
    <p:extLst>
      <p:ext uri="{BB962C8B-B14F-4D97-AF65-F5344CB8AC3E}">
        <p14:creationId xmlns:p14="http://schemas.microsoft.com/office/powerpoint/2010/main" val="401644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B63A-C0FE-5194-81C3-C54B3CDF935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267C8416-171E-0EF1-4EF0-24BF96E5995D}"/>
              </a:ext>
            </a:extLst>
          </p:cNvPr>
          <p:cNvSpPr txBox="1"/>
          <p:nvPr/>
        </p:nvSpPr>
        <p:spPr>
          <a:xfrm>
            <a:off x="254277" y="586187"/>
            <a:ext cx="11512573" cy="5459636"/>
          </a:xfrm>
          <a:prstGeom prst="rect">
            <a:avLst/>
          </a:prstGeom>
          <a:noFill/>
        </p:spPr>
        <p:txBody>
          <a:bodyPr wrap="square">
            <a:spAutoFit/>
          </a:bodyPr>
          <a:lstStyle/>
          <a:p>
            <a:pPr marL="285750" indent="-285750">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ANALYSE CONCURRENTIELLE</a:t>
            </a:r>
            <a:endParaRPr lang="fr-FR"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SOLAR WRAP se positionnera face aux solutions déjà utilisées pour assurer l'alimentation des équipements frigorifiques.</a:t>
            </a:r>
          </a:p>
          <a:p>
            <a:pPr marL="285750" indent="-285750">
              <a:lnSpc>
                <a:spcPct val="115000"/>
              </a:lnSpc>
              <a:spcAft>
                <a:spcPts val="800"/>
              </a:spcAft>
              <a:buFont typeface="Wingdings" panose="05000000000000000000" pitchFamily="2" charset="2"/>
              <a:buChar char="Ø"/>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Notre avantage concurrentiel recherché</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La différenciation de SOLAR WRAP reposerait sur quatre piliers :</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1. Une spécialisation sectorielle.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Une solution conçue pour les contraintes énergétiques des conteneurs frigorifiques mobiles.</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2. Une offre clé en main.</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Étude technique, fourniture, installation, mise en service et maintenance.</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3. Une autonomie dimensionnée.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Un objectif de 8 à 12 heures, à confirmer selon la consommation réelle du groupe frigorifique et la capacité de stockage.</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4. Un accompagnement de proximité.</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Installation, contrôle des performances et maintenance en Côte d'Ivoire.</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À ce stade, il serait prématuré d'affirmer que SOLAR WRAP est la première entreprise à proposer cette technologie en Côte d'Ivoire. Une analyse concurrentielle nominative reste nécessaire.</a:t>
            </a:r>
          </a:p>
        </p:txBody>
      </p:sp>
    </p:spTree>
    <p:extLst>
      <p:ext uri="{BB962C8B-B14F-4D97-AF65-F5344CB8AC3E}">
        <p14:creationId xmlns:p14="http://schemas.microsoft.com/office/powerpoint/2010/main" val="1835925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AE587-E048-65B0-11CF-4EA7F65E6165}"/>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95250CA-2B8D-F044-543A-A1A40298EB7A}"/>
              </a:ext>
            </a:extLst>
          </p:cNvPr>
          <p:cNvSpPr txBox="1"/>
          <p:nvPr/>
        </p:nvSpPr>
        <p:spPr>
          <a:xfrm>
            <a:off x="226845" y="202139"/>
            <a:ext cx="11512573" cy="851708"/>
          </a:xfrm>
          <a:prstGeom prst="rect">
            <a:avLst/>
          </a:prstGeom>
          <a:noFill/>
        </p:spPr>
        <p:txBody>
          <a:bodyPr wrap="square">
            <a:spAutoFit/>
          </a:bodyPr>
          <a:lstStyle/>
          <a:p>
            <a:pPr marL="285750" indent="-285750">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ANALYSE SWOT</a:t>
            </a:r>
            <a:endParaRPr lang="fr-FR"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4" name="Tableau 3">
            <a:extLst>
              <a:ext uri="{FF2B5EF4-FFF2-40B4-BE49-F238E27FC236}">
                <a16:creationId xmlns:a16="http://schemas.microsoft.com/office/drawing/2014/main" id="{16A3610F-BB03-1B87-CF14-2F97661B1CA5}"/>
              </a:ext>
            </a:extLst>
          </p:cNvPr>
          <p:cNvGraphicFramePr>
            <a:graphicFrameLocks noGrp="1"/>
          </p:cNvGraphicFramePr>
          <p:nvPr>
            <p:extLst>
              <p:ext uri="{D42A27DB-BD31-4B8C-83A1-F6EECF244321}">
                <p14:modId xmlns:p14="http://schemas.microsoft.com/office/powerpoint/2010/main" val="2559495154"/>
              </p:ext>
            </p:extLst>
          </p:nvPr>
        </p:nvGraphicFramePr>
        <p:xfrm>
          <a:off x="226845" y="1720188"/>
          <a:ext cx="11422612" cy="2406164"/>
        </p:xfrm>
        <a:graphic>
          <a:graphicData uri="http://schemas.openxmlformats.org/drawingml/2006/table">
            <a:tbl>
              <a:tblPr firstRow="1" firstCol="1" bandRow="1">
                <a:tableStyleId>{5A111915-BE36-4E01-A7E5-04B1672EAD32}</a:tableStyleId>
              </a:tblPr>
              <a:tblGrid>
                <a:gridCol w="5991075">
                  <a:extLst>
                    <a:ext uri="{9D8B030D-6E8A-4147-A177-3AD203B41FA5}">
                      <a16:colId xmlns:a16="http://schemas.microsoft.com/office/drawing/2014/main" val="2935872074"/>
                    </a:ext>
                  </a:extLst>
                </a:gridCol>
                <a:gridCol w="5431537">
                  <a:extLst>
                    <a:ext uri="{9D8B030D-6E8A-4147-A177-3AD203B41FA5}">
                      <a16:colId xmlns:a16="http://schemas.microsoft.com/office/drawing/2014/main" val="521750065"/>
                    </a:ext>
                  </a:extLst>
                </a:gridCol>
              </a:tblGrid>
              <a:tr h="302866">
                <a:tc>
                  <a:txBody>
                    <a:bodyPr/>
                    <a:lstStyle/>
                    <a:p>
                      <a:pPr>
                        <a:lnSpc>
                          <a:spcPct val="115000"/>
                        </a:lnSpc>
                        <a:spcAft>
                          <a:spcPts val="800"/>
                        </a:spcAft>
                      </a:pPr>
                      <a:r>
                        <a:rPr lang="fr-FR" sz="1500" kern="100" dirty="0">
                          <a:solidFill>
                            <a:schemeClr val="bg1"/>
                          </a:solidFill>
                          <a:effectLst/>
                        </a:rPr>
                        <a:t>FORCES</a:t>
                      </a:r>
                      <a:endParaRPr lang="fr-FR"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fr-FR" sz="1500" kern="100" dirty="0">
                          <a:solidFill>
                            <a:schemeClr val="bg1"/>
                          </a:solidFill>
                          <a:effectLst/>
                        </a:rPr>
                        <a:t>FAIBLESSES</a:t>
                      </a:r>
                      <a:endParaRPr lang="fr-FR"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7536662"/>
                  </a:ext>
                </a:extLst>
              </a:tr>
              <a:tr h="600144">
                <a:tc>
                  <a:txBody>
                    <a:bodyPr/>
                    <a:lstStyle/>
                    <a:p>
                      <a:pPr>
                        <a:lnSpc>
                          <a:spcPct val="115000"/>
                        </a:lnSpc>
                        <a:spcAft>
                          <a:spcPts val="800"/>
                        </a:spcAft>
                      </a:pPr>
                      <a:r>
                        <a:rPr lang="fr-FR" sz="1500" kern="100" dirty="0">
                          <a:solidFill>
                            <a:schemeClr val="tx1"/>
                          </a:solidFill>
                          <a:effectLst/>
                        </a:rPr>
                        <a:t>Offre spécialisée répondant à un enjeu opérationnel précis</a:t>
                      </a:r>
                      <a:endParaRPr lang="fr-FR" sz="15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l">
                        <a:lnSpc>
                          <a:spcPct val="115000"/>
                        </a:lnSpc>
                        <a:spcAft>
                          <a:spcPts val="800"/>
                        </a:spcAft>
                      </a:pPr>
                      <a:r>
                        <a:rPr lang="fr-FR" sz="1500" kern="100" dirty="0">
                          <a:effectLst/>
                        </a:rPr>
                        <a:t>Investissement initial potentiellement élevé</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29727234"/>
                  </a:ext>
                </a:extLst>
              </a:tr>
              <a:tr h="600144">
                <a:tc>
                  <a:txBody>
                    <a:bodyPr/>
                    <a:lstStyle/>
                    <a:p>
                      <a:pPr>
                        <a:lnSpc>
                          <a:spcPct val="115000"/>
                        </a:lnSpc>
                        <a:spcAft>
                          <a:spcPts val="800"/>
                        </a:spcAft>
                      </a:pPr>
                      <a:r>
                        <a:rPr lang="fr-FR" sz="1500" kern="100" dirty="0">
                          <a:solidFill>
                            <a:schemeClr val="tx1"/>
                          </a:solidFill>
                          <a:effectLst/>
                        </a:rPr>
                        <a:t>Association du photovoltaïque et du stockage</a:t>
                      </a:r>
                      <a:endParaRPr lang="fr-FR" sz="15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l">
                        <a:lnSpc>
                          <a:spcPct val="115000"/>
                        </a:lnSpc>
                        <a:spcAft>
                          <a:spcPts val="800"/>
                        </a:spcAft>
                      </a:pPr>
                      <a:r>
                        <a:rPr lang="fr-FR" sz="1500" kern="100" dirty="0">
                          <a:effectLst/>
                        </a:rPr>
                        <a:t>Performance dépendante du dimensionnement et des conditions d'utilisation</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81404836"/>
                  </a:ext>
                </a:extLst>
              </a:tr>
              <a:tr h="600144">
                <a:tc>
                  <a:txBody>
                    <a:bodyPr/>
                    <a:lstStyle/>
                    <a:p>
                      <a:pPr>
                        <a:lnSpc>
                          <a:spcPct val="115000"/>
                        </a:lnSpc>
                        <a:spcAft>
                          <a:spcPts val="800"/>
                        </a:spcAft>
                      </a:pPr>
                      <a:r>
                        <a:rPr lang="fr-FR" sz="1500" kern="100" dirty="0">
                          <a:solidFill>
                            <a:schemeClr val="tx1"/>
                          </a:solidFill>
                          <a:effectLst/>
                        </a:rPr>
                        <a:t>Prestation complète, de l'étude à la maintenance</a:t>
                      </a:r>
                      <a:endParaRPr lang="fr-FR" sz="15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l">
                        <a:lnSpc>
                          <a:spcPct val="115000"/>
                        </a:lnSpc>
                        <a:spcAft>
                          <a:spcPts val="800"/>
                        </a:spcAft>
                      </a:pPr>
                      <a:r>
                        <a:rPr lang="fr-FR" sz="1500" kern="100" dirty="0">
                          <a:effectLst/>
                        </a:rPr>
                        <a:t>Masse supplémentaire des batteries et équipements</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20425772"/>
                  </a:ext>
                </a:extLst>
              </a:tr>
              <a:tr h="302866">
                <a:tc>
                  <a:txBody>
                    <a:bodyPr/>
                    <a:lstStyle/>
                    <a:p>
                      <a:pPr>
                        <a:lnSpc>
                          <a:spcPct val="115000"/>
                        </a:lnSpc>
                        <a:spcAft>
                          <a:spcPts val="800"/>
                        </a:spcAft>
                      </a:pPr>
                      <a:r>
                        <a:rPr lang="fr-FR" sz="1500" kern="100" dirty="0">
                          <a:solidFill>
                            <a:schemeClr val="tx1"/>
                          </a:solidFill>
                          <a:effectLst/>
                        </a:rPr>
                        <a:t>Possibilité de contrats B2B récurrents</a:t>
                      </a:r>
                      <a:endParaRPr lang="fr-FR" sz="15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l">
                        <a:lnSpc>
                          <a:spcPct val="115000"/>
                        </a:lnSpc>
                        <a:spcAft>
                          <a:spcPts val="800"/>
                        </a:spcAft>
                      </a:pPr>
                      <a:r>
                        <a:rPr lang="fr-FR" sz="1500" kern="100" dirty="0">
                          <a:effectLst/>
                        </a:rPr>
                        <a:t>Nécessité d'une expertise technique et frigorifique</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9274579"/>
                  </a:ext>
                </a:extLst>
              </a:tr>
            </a:tbl>
          </a:graphicData>
        </a:graphic>
      </p:graphicFrame>
      <p:sp>
        <p:nvSpPr>
          <p:cNvPr id="6" name="Rectangle 2">
            <a:extLst>
              <a:ext uri="{FF2B5EF4-FFF2-40B4-BE49-F238E27FC236}">
                <a16:creationId xmlns:a16="http://schemas.microsoft.com/office/drawing/2014/main" id="{EA12D0D8-74F8-E68B-220D-CDEE62BB8F4E}"/>
              </a:ext>
            </a:extLst>
          </p:cNvPr>
          <p:cNvSpPr>
            <a:spLocks noChangeArrowheads="1"/>
          </p:cNvSpPr>
          <p:nvPr/>
        </p:nvSpPr>
        <p:spPr bwMode="auto">
          <a:xfrm>
            <a:off x="390143" y="903874"/>
            <a:ext cx="112593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Nous disposons d'une proposition de valeur potentiellement différenciante, mais notre crédibilité commerciale dépendra avant tout de notre démonstration technique et économique</a:t>
            </a:r>
            <a:endParaRPr kumimoji="0" lang="fr-FR" altLang="fr-FR" sz="2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au 6">
            <a:extLst>
              <a:ext uri="{FF2B5EF4-FFF2-40B4-BE49-F238E27FC236}">
                <a16:creationId xmlns:a16="http://schemas.microsoft.com/office/drawing/2014/main" id="{C7193CFA-0794-8807-AA43-D464CAF27BA8}"/>
              </a:ext>
            </a:extLst>
          </p:cNvPr>
          <p:cNvGraphicFramePr>
            <a:graphicFrameLocks noGrp="1"/>
          </p:cNvGraphicFramePr>
          <p:nvPr>
            <p:extLst>
              <p:ext uri="{D42A27DB-BD31-4B8C-83A1-F6EECF244321}">
                <p14:modId xmlns:p14="http://schemas.microsoft.com/office/powerpoint/2010/main" val="296170057"/>
              </p:ext>
            </p:extLst>
          </p:nvPr>
        </p:nvGraphicFramePr>
        <p:xfrm>
          <a:off x="308494" y="4459096"/>
          <a:ext cx="11340961" cy="2206437"/>
        </p:xfrm>
        <a:graphic>
          <a:graphicData uri="http://schemas.openxmlformats.org/drawingml/2006/table">
            <a:tbl>
              <a:tblPr firstRow="1" firstCol="1" bandRow="1">
                <a:tableStyleId>{72833802-FEF1-4C79-8D5D-14CF1EAF98D9}</a:tableStyleId>
              </a:tblPr>
              <a:tblGrid>
                <a:gridCol w="5680826">
                  <a:extLst>
                    <a:ext uri="{9D8B030D-6E8A-4147-A177-3AD203B41FA5}">
                      <a16:colId xmlns:a16="http://schemas.microsoft.com/office/drawing/2014/main" val="1737460088"/>
                    </a:ext>
                  </a:extLst>
                </a:gridCol>
                <a:gridCol w="5660135">
                  <a:extLst>
                    <a:ext uri="{9D8B030D-6E8A-4147-A177-3AD203B41FA5}">
                      <a16:colId xmlns:a16="http://schemas.microsoft.com/office/drawing/2014/main" val="2667816756"/>
                    </a:ext>
                  </a:extLst>
                </a:gridCol>
              </a:tblGrid>
              <a:tr h="261429">
                <a:tc>
                  <a:txBody>
                    <a:bodyPr/>
                    <a:lstStyle/>
                    <a:p>
                      <a:pPr>
                        <a:lnSpc>
                          <a:spcPct val="115000"/>
                        </a:lnSpc>
                        <a:spcAft>
                          <a:spcPts val="800"/>
                        </a:spcAft>
                      </a:pPr>
                      <a:r>
                        <a:rPr lang="fr-FR" sz="1500" kern="100" dirty="0">
                          <a:effectLst/>
                        </a:rPr>
                        <a:t>OPPORTUNITÉS</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fr-FR" sz="1500" kern="100" dirty="0">
                          <a:effectLst/>
                        </a:rPr>
                        <a:t>MENACES</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19319319"/>
                  </a:ext>
                </a:extLst>
              </a:tr>
              <a:tr h="515621">
                <a:tc>
                  <a:txBody>
                    <a:bodyPr/>
                    <a:lstStyle/>
                    <a:p>
                      <a:pPr>
                        <a:lnSpc>
                          <a:spcPct val="115000"/>
                        </a:lnSpc>
                        <a:spcAft>
                          <a:spcPts val="800"/>
                        </a:spcAft>
                      </a:pPr>
                      <a:r>
                        <a:rPr lang="fr-FR" sz="1500" kern="100" dirty="0">
                          <a:effectLst/>
                        </a:rPr>
                        <a:t>Besoin de fiabilité dans la logistique frigorifique</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fr-FR" sz="1500" kern="100" dirty="0">
                          <a:effectLst/>
                        </a:rPr>
                        <a:t>Concurrence des solutions conventionnelles de secours</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75431256"/>
                  </a:ext>
                </a:extLst>
              </a:tr>
              <a:tr h="390588">
                <a:tc>
                  <a:txBody>
                    <a:bodyPr/>
                    <a:lstStyle/>
                    <a:p>
                      <a:pPr>
                        <a:lnSpc>
                          <a:spcPct val="115000"/>
                        </a:lnSpc>
                        <a:spcAft>
                          <a:spcPts val="800"/>
                        </a:spcAft>
                      </a:pPr>
                      <a:r>
                        <a:rPr lang="fr-FR" sz="1500" kern="100" dirty="0">
                          <a:effectLst/>
                        </a:rPr>
                        <a:t>Développement de solutions énergétiques décarbonées</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fr-FR" sz="1500" kern="100" dirty="0">
                          <a:effectLst/>
                        </a:rPr>
                        <a:t>Variabilité des prix des équipements importés</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77135565"/>
                  </a:ext>
                </a:extLst>
              </a:tr>
              <a:tr h="515621">
                <a:tc>
                  <a:txBody>
                    <a:bodyPr/>
                    <a:lstStyle/>
                    <a:p>
                      <a:pPr>
                        <a:lnSpc>
                          <a:spcPct val="115000"/>
                        </a:lnSpc>
                        <a:spcAft>
                          <a:spcPts val="800"/>
                        </a:spcAft>
                      </a:pPr>
                      <a:r>
                        <a:rPr lang="fr-FR" sz="1500" kern="100">
                          <a:effectLst/>
                        </a:rPr>
                        <a:t>Possibilité de partenariats avec les transporteurs et frigoristes</a:t>
                      </a:r>
                      <a:endParaRPr lang="fr-FR" sz="15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fr-FR" sz="1500" kern="100" dirty="0">
                          <a:effectLst/>
                        </a:rPr>
                        <a:t>Contraintes de sécurité, d'homologation et d'intégration</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38968943"/>
                  </a:ext>
                </a:extLst>
              </a:tr>
              <a:tr h="515621">
                <a:tc>
                  <a:txBody>
                    <a:bodyPr/>
                    <a:lstStyle/>
                    <a:p>
                      <a:pPr>
                        <a:lnSpc>
                          <a:spcPct val="115000"/>
                        </a:lnSpc>
                        <a:spcAft>
                          <a:spcPts val="800"/>
                        </a:spcAft>
                      </a:pPr>
                      <a:r>
                        <a:rPr lang="fr-FR" sz="1500" kern="100">
                          <a:effectLst/>
                        </a:rPr>
                        <a:t>Extension future à d'autres marchés africains</a:t>
                      </a:r>
                      <a:endParaRPr lang="fr-FR" sz="15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fr-FR" sz="1500" kern="100" dirty="0">
                          <a:effectLst/>
                        </a:rPr>
                        <a:t>Difficulté à démontrer un retour sur investissement attractif</a:t>
                      </a:r>
                      <a:endParaRPr lang="fr-FR"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76948623"/>
                  </a:ext>
                </a:extLst>
              </a:tr>
            </a:tbl>
          </a:graphicData>
        </a:graphic>
      </p:graphicFrame>
    </p:spTree>
    <p:extLst>
      <p:ext uri="{BB962C8B-B14F-4D97-AF65-F5344CB8AC3E}">
        <p14:creationId xmlns:p14="http://schemas.microsoft.com/office/powerpoint/2010/main" val="761054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DB761-0AF5-71C1-4F68-BDAC7FDC2F99}"/>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E2EE7FC6-A284-B7C8-DF61-9B2EA066A3B8}"/>
              </a:ext>
            </a:extLst>
          </p:cNvPr>
          <p:cNvSpPr txBox="1"/>
          <p:nvPr/>
        </p:nvSpPr>
        <p:spPr>
          <a:xfrm>
            <a:off x="226845" y="202139"/>
            <a:ext cx="11512573" cy="6726650"/>
          </a:xfrm>
          <a:prstGeom prst="rect">
            <a:avLst/>
          </a:prstGeom>
          <a:noFill/>
        </p:spPr>
        <p:txBody>
          <a:bodyPr wrap="square">
            <a:spAutoFit/>
          </a:bodyPr>
          <a:lstStyle/>
          <a:p>
            <a:pPr marL="342900" indent="-342900" algn="just">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NOTRE POSITIONNEMENT</a:t>
            </a:r>
          </a:p>
          <a:p>
            <a:pPr algn="just">
              <a:lnSpc>
                <a:spcPct val="115000"/>
              </a:lnSpc>
              <a:spcAft>
                <a:spcPts val="800"/>
              </a:spcAft>
            </a:pPr>
            <a:endParaRPr lang="fr-FR" sz="20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fr-FR" sz="18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 SOLAR WRAP : le spécialiste de la continuité énergétique solaire pour la chaîne du froid mobile.</a:t>
            </a:r>
          </a:p>
          <a:p>
            <a:pPr algn="just">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Pour les professionnels du transport frigorifique en Côte d'Ivoire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confrontés aux risques d'interruption de l'alimentation électrique de leurs conteneurs,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SOLAR WRAP propose une solution de continuité énergétique associant photovoltaïque, stockage par batteries et intégration technique.</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Contrairement à une simple installation solaire, SOLAR WRAP propose une prestation complète, conçue autour des besoins énergétiques des équipements frigorifiques, depuis le diagnostic initial jusqu'à la maintenance.</a:t>
            </a:r>
          </a:p>
          <a:p>
            <a:pPr algn="just">
              <a:lnSpc>
                <a:spcPct val="115000"/>
              </a:lnSpc>
              <a:spcAft>
                <a:spcPts val="800"/>
              </a:spcAft>
            </a:pPr>
            <a:endParaRPr lang="fr-FR"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NOTRE PROMESSE</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Contribuer à maintenir l'alimentation des équipements frigorifiques lors des interruptions de la source électrique principale, grâce à un système solaire avec batteries, dimensionné selon les besoins d'exploitation.</a:t>
            </a:r>
          </a:p>
          <a:p>
            <a:pPr>
              <a:lnSpc>
                <a:spcPct val="115000"/>
              </a:lnSpc>
              <a:spcAft>
                <a:spcPts val="800"/>
              </a:spcAft>
            </a:pPr>
            <a:endParaRPr lang="fr-FR"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En conclusion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le marché ivoirien présente des signaux favorables, mais sa taille, la disposition à payer des clients et la faisabilité des performances annoncées doivent encore être validées sur le terrain.</a:t>
            </a:r>
          </a:p>
        </p:txBody>
      </p:sp>
    </p:spTree>
    <p:extLst>
      <p:ext uri="{BB962C8B-B14F-4D97-AF65-F5344CB8AC3E}">
        <p14:creationId xmlns:p14="http://schemas.microsoft.com/office/powerpoint/2010/main" val="270867634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597</Words>
  <Application>Microsoft Office PowerPoint</Application>
  <PresentationFormat>Grand écran</PresentationFormat>
  <Paragraphs>51</Paragraphs>
  <Slides>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vt:i4>
      </vt:variant>
    </vt:vector>
  </HeadingPairs>
  <TitlesOfParts>
    <vt:vector size="10" baseType="lpstr">
      <vt:lpstr>Aptos</vt:lpstr>
      <vt:lpstr>Aptos Display</vt:lpstr>
      <vt:lpstr>Arial</vt:lpstr>
      <vt:lpstr>Segoe UI Emoji</vt:lpstr>
      <vt:lpstr>Wingdings</vt:lpstr>
      <vt:lpstr>Thème Office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KACOU N'GUETTA ANO BLA EDWIGE</dc:creator>
  <cp:lastModifiedBy>KACOU N'GUETTA ANO BLA EDWIGE</cp:lastModifiedBy>
  <cp:revision>2</cp:revision>
  <dcterms:created xsi:type="dcterms:W3CDTF">2026-10-29T10:08:20Z</dcterms:created>
  <dcterms:modified xsi:type="dcterms:W3CDTF">2026-10-29T11:02:19Z</dcterms:modified>
</cp:coreProperties>
</file>