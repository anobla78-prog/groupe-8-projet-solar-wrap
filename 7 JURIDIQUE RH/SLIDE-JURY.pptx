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ORAL (45–60 secondes)</a:t>
            </a:r>
          </a:p>
          <a:p/>
          <a:p>
            <a:r>
              <a:t>SOLAR WRAP équipe les camions frigorifiques de ses clients avec un kit solaire. Pour démarrer simplement en Côte d’Ivoire, je propose une SARL et un installateur local qualifié. Avant le pilote, nous faisons confirmer les formalités de modification du camion, la sécurité électrique et les assurances. Un contrat précise la pose, les essais, la garantie et la maintenance. Le client reste responsable de son transport ; nous restons responsables de notre équipement et de son installation, selon les règles applicables. Enfin, les économies et l’autonomie seront mesurées avant d’être promises.</a:t>
            </a:r>
          </a:p>
          <a:p/>
          <a:p>
            <a:r>
              <a:t>Sources et vérifications : SOURCES-ET-VERIFICATIONS.md ; CEO 04-strategie/LA VISION DU CEO.MD ; Ventes §2 et5. DGTTC transformations/RTI et DGE : application au montage à confirmer.</a:t>
            </a:r>
          </a:p>
          <a:p/>
          <a:p>
            <a:r>
              <a:t>La SARL et le partenaire local sont des propositions. Le client reste exploitant, sans exclusion de nos responsabilités légales.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075D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0972800" cy="274320"/>
          </a:xfrm>
          <a:prstGeom prst="rect">
            <a:avLst/>
          </a:prstGeom>
          <a:noFill/>
        </p:spPr>
        <p:txBody>
          <a:bodyPr wrap="square" lIns="18288" rIns="18288" tIns="18288" bIns="18288">
            <a:spAutoFit/>
          </a:bodyPr>
          <a:lstStyle/>
          <a:p>
            <a:pPr>
              <a:spcAft>
                <a:spcPts val="1000"/>
              </a:spcAft>
              <a:defRPr sz="1300" b="1">
                <a:solidFill>
                  <a:srgbClr val="075D65"/>
                </a:solidFill>
                <a:latin typeface="Aptos"/>
              </a:defRPr>
            </a:pPr>
            <a:r>
              <a:t>SOLAR WRAP   /   CÔTE D’IVOIRE                                      MAXIME · JURIDIQUE / RH</a:t>
            </a:r>
          </a:p>
        </p:txBody>
      </p:sp>
      <p:sp>
        <p:nvSpPr>
          <p:cNvPr id="4" name="TextBox 3"/>
          <p:cNvSpPr txBox="1"/>
          <p:nvPr/>
        </p:nvSpPr>
        <p:spPr>
          <a:xfrm>
            <a:off x="548640" y="914400"/>
            <a:ext cx="10972800" cy="640080"/>
          </a:xfrm>
          <a:prstGeom prst="rect">
            <a:avLst/>
          </a:prstGeom>
          <a:noFill/>
        </p:spPr>
        <p:txBody>
          <a:bodyPr wrap="square" lIns="18288" rIns="18288" tIns="18288" bIns="18288">
            <a:spAutoFit/>
          </a:bodyPr>
          <a:lstStyle/>
          <a:p>
            <a:pPr>
              <a:spcAft>
                <a:spcPts val="1000"/>
              </a:spcAft>
              <a:defRPr sz="3400" b="1">
                <a:solidFill>
                  <a:srgbClr val="075D65"/>
                </a:solidFill>
                <a:latin typeface="Aptos"/>
              </a:defRPr>
            </a:pPr>
            <a:r>
              <a:t>Un kit sûr, un pilote encadré.</a:t>
            </a:r>
          </a:p>
        </p:txBody>
      </p:sp>
      <p:sp>
        <p:nvSpPr>
          <p:cNvPr id="5" name="TextBox 4"/>
          <p:cNvSpPr txBox="1"/>
          <p:nvPr/>
        </p:nvSpPr>
        <p:spPr>
          <a:xfrm>
            <a:off x="548640" y="1691640"/>
            <a:ext cx="10972800" cy="457200"/>
          </a:xfrm>
          <a:prstGeom prst="rect">
            <a:avLst/>
          </a:prstGeom>
          <a:noFill/>
        </p:spPr>
        <p:txBody>
          <a:bodyPr wrap="square" lIns="18288" rIns="18288" tIns="18288" bIns="18288">
            <a:spAutoFit/>
          </a:bodyPr>
          <a:lstStyle/>
          <a:p>
            <a:pPr>
              <a:spcAft>
                <a:spcPts val="1000"/>
              </a:spcAft>
              <a:defRPr sz="2300" b="0">
                <a:solidFill>
                  <a:srgbClr val="17343F"/>
                </a:solidFill>
                <a:latin typeface="Aptos"/>
              </a:defRPr>
            </a:pPr>
            <a:r>
              <a:t>Nous équipons les camions frigorifiques des clients.</a:t>
            </a:r>
          </a:p>
        </p:txBody>
      </p:sp>
      <p:sp>
        <p:nvSpPr>
          <p:cNvPr id="6" name="Rounded Rectangle 5"/>
          <p:cNvSpPr/>
          <p:nvPr/>
        </p:nvSpPr>
        <p:spPr>
          <a:xfrm>
            <a:off x="548640" y="2514600"/>
            <a:ext cx="3566160" cy="2423160"/>
          </a:xfrm>
          <a:prstGeom prst="roundRect">
            <a:avLst/>
          </a:prstGeom>
          <a:solidFill>
            <a:srgbClr val="E6F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2697480"/>
            <a:ext cx="640080" cy="365760"/>
          </a:xfrm>
          <a:prstGeom prst="rect">
            <a:avLst/>
          </a:prstGeom>
          <a:noFill/>
        </p:spPr>
        <p:txBody>
          <a:bodyPr wrap="square" lIns="18288" rIns="18288" tIns="18288" bIns="18288">
            <a:spAutoFit/>
          </a:bodyPr>
          <a:lstStyle/>
          <a:p>
            <a:pPr>
              <a:spcAft>
                <a:spcPts val="1000"/>
              </a:spcAft>
              <a:defRPr sz="2400" b="1">
                <a:solidFill>
                  <a:srgbClr val="D9793B"/>
                </a:solidFill>
                <a:latin typeface="Aptos"/>
              </a:defRPr>
            </a:pPr>
            <a:r>
              <a:t>01</a:t>
            </a:r>
          </a:p>
        </p:txBody>
      </p:sp>
      <p:sp>
        <p:nvSpPr>
          <p:cNvPr id="8" name="TextBox 7"/>
          <p:cNvSpPr txBox="1"/>
          <p:nvPr/>
        </p:nvSpPr>
        <p:spPr>
          <a:xfrm>
            <a:off x="749808" y="3200400"/>
            <a:ext cx="3154680" cy="640080"/>
          </a:xfrm>
          <a:prstGeom prst="rect">
            <a:avLst/>
          </a:prstGeom>
          <a:noFill/>
        </p:spPr>
        <p:txBody>
          <a:bodyPr wrap="square" lIns="18288" rIns="18288" tIns="18288" bIns="18288">
            <a:spAutoFit/>
          </a:bodyPr>
          <a:lstStyle/>
          <a:p>
            <a:pPr>
              <a:spcAft>
                <a:spcPts val="1000"/>
              </a:spcAft>
              <a:defRPr sz="1700" b="1">
                <a:solidFill>
                  <a:srgbClr val="075D65"/>
                </a:solidFill>
                <a:latin typeface="Aptos"/>
              </a:defRPr>
            </a:pPr>
            <a:r>
              <a:t>SÉCURISER LA POSE</a:t>
            </a:r>
          </a:p>
        </p:txBody>
      </p:sp>
      <p:sp>
        <p:nvSpPr>
          <p:cNvPr id="9" name="TextBox 8"/>
          <p:cNvSpPr txBox="1"/>
          <p:nvPr/>
        </p:nvSpPr>
        <p:spPr>
          <a:xfrm>
            <a:off x="749808" y="3886200"/>
            <a:ext cx="3154680" cy="914400"/>
          </a:xfrm>
          <a:prstGeom prst="rect">
            <a:avLst/>
          </a:prstGeom>
          <a:noFill/>
        </p:spPr>
        <p:txBody>
          <a:bodyPr wrap="square" lIns="18288" rIns="18288" tIns="18288" bIns="18288">
            <a:spAutoFit/>
          </a:bodyPr>
          <a:lstStyle/>
          <a:p>
            <a:pPr>
              <a:spcAft>
                <a:spcPts val="1000"/>
              </a:spcAft>
              <a:defRPr sz="1700" b="0">
                <a:solidFill>
                  <a:srgbClr val="17343F"/>
                </a:solidFill>
                <a:latin typeface="Aptos"/>
              </a:defRPr>
            </a:pPr>
            <a:r>
              <a:t>Vérifier conformité véhicule</a:t>
            </a:r>
          </a:p>
          <a:p>
            <a:pPr>
              <a:spcAft>
                <a:spcPts val="1000"/>
              </a:spcAft>
              <a:defRPr sz="1700" b="0">
                <a:solidFill>
                  <a:srgbClr val="17343F"/>
                </a:solidFill>
                <a:latin typeface="Aptos"/>
              </a:defRPr>
            </a:pPr>
            <a:r>
              <a:t>et sécurité électrique.</a:t>
            </a:r>
          </a:p>
          <a:p>
            <a:pPr>
              <a:spcAft>
                <a:spcPts val="1000"/>
              </a:spcAft>
              <a:defRPr sz="1700" b="0">
                <a:solidFill>
                  <a:srgbClr val="17343F"/>
                </a:solidFill>
                <a:latin typeface="Aptos"/>
              </a:defRPr>
            </a:pPr>
            <a:r>
              <a:t>Installateur local vérifié.</a:t>
            </a:r>
          </a:p>
        </p:txBody>
      </p:sp>
      <p:sp>
        <p:nvSpPr>
          <p:cNvPr id="10" name="Rounded Rectangle 9"/>
          <p:cNvSpPr/>
          <p:nvPr/>
        </p:nvSpPr>
        <p:spPr>
          <a:xfrm>
            <a:off x="4315968" y="2514600"/>
            <a:ext cx="3566160" cy="2423160"/>
          </a:xfrm>
          <a:prstGeom prst="roundRect">
            <a:avLst/>
          </a:prstGeom>
          <a:solidFill>
            <a:srgbClr val="E6F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17136" y="2697480"/>
            <a:ext cx="640080" cy="365760"/>
          </a:xfrm>
          <a:prstGeom prst="rect">
            <a:avLst/>
          </a:prstGeom>
          <a:noFill/>
        </p:spPr>
        <p:txBody>
          <a:bodyPr wrap="square" lIns="18288" rIns="18288" tIns="18288" bIns="18288">
            <a:spAutoFit/>
          </a:bodyPr>
          <a:lstStyle/>
          <a:p>
            <a:pPr>
              <a:spcAft>
                <a:spcPts val="1000"/>
              </a:spcAft>
              <a:defRPr sz="2400" b="1">
                <a:solidFill>
                  <a:srgbClr val="D9793B"/>
                </a:solidFill>
                <a:latin typeface="Aptos"/>
              </a:defRPr>
            </a:pPr>
            <a:r>
              <a:t>02</a:t>
            </a:r>
          </a:p>
        </p:txBody>
      </p:sp>
      <p:sp>
        <p:nvSpPr>
          <p:cNvPr id="12" name="TextBox 11"/>
          <p:cNvSpPr txBox="1"/>
          <p:nvPr/>
        </p:nvSpPr>
        <p:spPr>
          <a:xfrm>
            <a:off x="4517136" y="3200400"/>
            <a:ext cx="3154680" cy="640080"/>
          </a:xfrm>
          <a:prstGeom prst="rect">
            <a:avLst/>
          </a:prstGeom>
          <a:noFill/>
        </p:spPr>
        <p:txBody>
          <a:bodyPr wrap="square" lIns="18288" rIns="18288" tIns="18288" bIns="18288">
            <a:spAutoFit/>
          </a:bodyPr>
          <a:lstStyle/>
          <a:p>
            <a:pPr>
              <a:spcAft>
                <a:spcPts val="1000"/>
              </a:spcAft>
              <a:defRPr sz="1700" b="1">
                <a:solidFill>
                  <a:srgbClr val="075D65"/>
                </a:solidFill>
                <a:latin typeface="Aptos"/>
              </a:defRPr>
            </a:pPr>
            <a:r>
              <a:t>ENCADRER LE PILOTE</a:t>
            </a:r>
          </a:p>
        </p:txBody>
      </p:sp>
      <p:sp>
        <p:nvSpPr>
          <p:cNvPr id="13" name="TextBox 12"/>
          <p:cNvSpPr txBox="1"/>
          <p:nvPr/>
        </p:nvSpPr>
        <p:spPr>
          <a:xfrm>
            <a:off x="4517136" y="3886200"/>
            <a:ext cx="3154680" cy="914400"/>
          </a:xfrm>
          <a:prstGeom prst="rect">
            <a:avLst/>
          </a:prstGeom>
          <a:noFill/>
        </p:spPr>
        <p:txBody>
          <a:bodyPr wrap="square" lIns="18288" rIns="18288" tIns="18288" bIns="18288">
            <a:spAutoFit/>
          </a:bodyPr>
          <a:lstStyle/>
          <a:p>
            <a:pPr>
              <a:spcAft>
                <a:spcPts val="1000"/>
              </a:spcAft>
              <a:defRPr sz="1700" b="0">
                <a:solidFill>
                  <a:srgbClr val="17343F"/>
                </a:solidFill>
                <a:latin typeface="Aptos"/>
              </a:defRPr>
            </a:pPr>
            <a:r>
              <a:t>Contrat : pose, essais,</a:t>
            </a:r>
          </a:p>
          <a:p>
            <a:pPr>
              <a:spcAft>
                <a:spcPts val="1000"/>
              </a:spcAft>
              <a:defRPr sz="1700" b="0">
                <a:solidFill>
                  <a:srgbClr val="17343F"/>
                </a:solidFill>
                <a:latin typeface="Aptos"/>
              </a:defRPr>
            </a:pPr>
            <a:r>
              <a:t>garantie et maintenance.</a:t>
            </a:r>
          </a:p>
          <a:p>
            <a:pPr>
              <a:spcAft>
                <a:spcPts val="1000"/>
              </a:spcAft>
              <a:defRPr sz="1700" b="0">
                <a:solidFill>
                  <a:srgbClr val="17343F"/>
                </a:solidFill>
                <a:latin typeface="Aptos"/>
              </a:defRPr>
            </a:pPr>
            <a:r>
              <a:t>Assurances à confirmer.</a:t>
            </a:r>
          </a:p>
        </p:txBody>
      </p:sp>
      <p:sp>
        <p:nvSpPr>
          <p:cNvPr id="14" name="Rounded Rectangle 13"/>
          <p:cNvSpPr/>
          <p:nvPr/>
        </p:nvSpPr>
        <p:spPr>
          <a:xfrm>
            <a:off x="8083296" y="2514600"/>
            <a:ext cx="3566160" cy="2423160"/>
          </a:xfrm>
          <a:prstGeom prst="roundRect">
            <a:avLst/>
          </a:prstGeom>
          <a:solidFill>
            <a:srgbClr val="E6F0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84464" y="2697480"/>
            <a:ext cx="640080" cy="365760"/>
          </a:xfrm>
          <a:prstGeom prst="rect">
            <a:avLst/>
          </a:prstGeom>
          <a:noFill/>
        </p:spPr>
        <p:txBody>
          <a:bodyPr wrap="square" lIns="18288" rIns="18288" tIns="18288" bIns="18288">
            <a:spAutoFit/>
          </a:bodyPr>
          <a:lstStyle/>
          <a:p>
            <a:pPr>
              <a:spcAft>
                <a:spcPts val="1000"/>
              </a:spcAft>
              <a:defRPr sz="2400" b="1">
                <a:solidFill>
                  <a:srgbClr val="D9793B"/>
                </a:solidFill>
                <a:latin typeface="Aptos"/>
              </a:defRPr>
            </a:pPr>
            <a:r>
              <a:t>03</a:t>
            </a:r>
          </a:p>
        </p:txBody>
      </p:sp>
      <p:sp>
        <p:nvSpPr>
          <p:cNvPr id="16" name="TextBox 15"/>
          <p:cNvSpPr txBox="1"/>
          <p:nvPr/>
        </p:nvSpPr>
        <p:spPr>
          <a:xfrm>
            <a:off x="8284464" y="3200400"/>
            <a:ext cx="3154680" cy="640080"/>
          </a:xfrm>
          <a:prstGeom prst="rect">
            <a:avLst/>
          </a:prstGeom>
          <a:noFill/>
        </p:spPr>
        <p:txBody>
          <a:bodyPr wrap="square" lIns="18288" rIns="18288" tIns="18288" bIns="18288">
            <a:spAutoFit/>
          </a:bodyPr>
          <a:lstStyle/>
          <a:p>
            <a:pPr>
              <a:spcAft>
                <a:spcPts val="1000"/>
              </a:spcAft>
              <a:defRPr sz="1700" b="1">
                <a:solidFill>
                  <a:srgbClr val="075D65"/>
                </a:solidFill>
                <a:latin typeface="Aptos"/>
              </a:defRPr>
            </a:pPr>
            <a:r>
              <a:t>GARDER UNE ÉQUIPE LÉGÈRE</a:t>
            </a:r>
          </a:p>
        </p:txBody>
      </p:sp>
      <p:sp>
        <p:nvSpPr>
          <p:cNvPr id="17" name="TextBox 16"/>
          <p:cNvSpPr txBox="1"/>
          <p:nvPr/>
        </p:nvSpPr>
        <p:spPr>
          <a:xfrm>
            <a:off x="8284464" y="3886200"/>
            <a:ext cx="3154680" cy="914400"/>
          </a:xfrm>
          <a:prstGeom prst="rect">
            <a:avLst/>
          </a:prstGeom>
          <a:noFill/>
        </p:spPr>
        <p:txBody>
          <a:bodyPr wrap="square" lIns="18288" rIns="18288" tIns="18288" bIns="18288">
            <a:spAutoFit/>
          </a:bodyPr>
          <a:lstStyle/>
          <a:p>
            <a:pPr>
              <a:spcAft>
                <a:spcPts val="1000"/>
              </a:spcAft>
              <a:defRPr sz="1700" b="0">
                <a:solidFill>
                  <a:srgbClr val="17343F"/>
                </a:solidFill>
                <a:latin typeface="Aptos"/>
              </a:defRPr>
            </a:pPr>
            <a:r>
              <a:t>Responsable projet/commercial.</a:t>
            </a:r>
          </a:p>
          <a:p>
            <a:pPr>
              <a:spcAft>
                <a:spcPts val="1000"/>
              </a:spcAft>
              <a:defRPr sz="1700" b="0">
                <a:solidFill>
                  <a:srgbClr val="17343F"/>
                </a:solidFill>
                <a:latin typeface="Aptos"/>
              </a:defRPr>
            </a:pPr>
            <a:r>
              <a:t>Partenaire local pour</a:t>
            </a:r>
          </a:p>
          <a:p>
            <a:pPr>
              <a:spcAft>
                <a:spcPts val="1000"/>
              </a:spcAft>
              <a:defRPr sz="1700" b="0">
                <a:solidFill>
                  <a:srgbClr val="17343F"/>
                </a:solidFill>
                <a:latin typeface="Aptos"/>
              </a:defRPr>
            </a:pPr>
            <a:r>
              <a:t>l’installation et la maintenance.</a:t>
            </a:r>
          </a:p>
        </p:txBody>
      </p:sp>
      <p:sp>
        <p:nvSpPr>
          <p:cNvPr id="18" name="TextBox 17"/>
          <p:cNvSpPr txBox="1"/>
          <p:nvPr/>
        </p:nvSpPr>
        <p:spPr>
          <a:xfrm>
            <a:off x="594360" y="5257800"/>
            <a:ext cx="10972800" cy="594360"/>
          </a:xfrm>
          <a:prstGeom prst="rect">
            <a:avLst/>
          </a:prstGeom>
          <a:noFill/>
        </p:spPr>
        <p:txBody>
          <a:bodyPr wrap="square" lIns="18288" rIns="18288" tIns="18288" bIns="18288">
            <a:spAutoFit/>
          </a:bodyPr>
          <a:lstStyle/>
          <a:p>
            <a:pPr>
              <a:spcAft>
                <a:spcPts val="1000"/>
              </a:spcAft>
              <a:defRPr sz="1900" b="1">
                <a:solidFill>
                  <a:srgbClr val="17343F"/>
                </a:solidFill>
                <a:latin typeface="Aptos"/>
              </a:defRPr>
            </a:pPr>
            <a:r>
              <a:t>SARL proposée  •  Client : exploitation  •  SOLAR WRAP : kit et pose</a:t>
            </a:r>
          </a:p>
        </p:txBody>
      </p:sp>
      <p:sp>
        <p:nvSpPr>
          <p:cNvPr id="19" name="TextBox 18"/>
          <p:cNvSpPr txBox="1"/>
          <p:nvPr/>
        </p:nvSpPr>
        <p:spPr>
          <a:xfrm>
            <a:off x="594360" y="5989320"/>
            <a:ext cx="10972800" cy="457200"/>
          </a:xfrm>
          <a:prstGeom prst="rect">
            <a:avLst/>
          </a:prstGeom>
          <a:noFill/>
        </p:spPr>
        <p:txBody>
          <a:bodyPr wrap="square" lIns="18288" rIns="18288" tIns="18288" bIns="18288">
            <a:spAutoFit/>
          </a:bodyPr>
          <a:lstStyle/>
          <a:p>
            <a:pPr>
              <a:spcAft>
                <a:spcPts val="1000"/>
              </a:spcAft>
              <a:defRPr sz="2200" b="1">
                <a:solidFill>
                  <a:srgbClr val="075D65"/>
                </a:solidFill>
                <a:latin typeface="Aptos"/>
              </a:defRPr>
            </a:pPr>
            <a:r>
              <a:t>Mesurer les économies et l’autonomie avant de les promettre.</a:t>
            </a:r>
          </a:p>
        </p:txBody>
      </p:sp>
      <p:sp>
        <p:nvSpPr>
          <p:cNvPr id="20" name="TextBox 19"/>
          <p:cNvSpPr txBox="1"/>
          <p:nvPr/>
        </p:nvSpPr>
        <p:spPr>
          <a:xfrm>
            <a:off x="594360" y="6510528"/>
            <a:ext cx="10972800" cy="182880"/>
          </a:xfrm>
          <a:prstGeom prst="rect">
            <a:avLst/>
          </a:prstGeom>
          <a:noFill/>
        </p:spPr>
        <p:txBody>
          <a:bodyPr wrap="square" lIns="18288" rIns="18288" tIns="18288" bIns="18288">
            <a:spAutoFit/>
          </a:bodyPr>
          <a:lstStyle/>
          <a:p>
            <a:pPr>
              <a:spcAft>
                <a:spcPts val="1000"/>
              </a:spcAft>
              <a:defRPr sz="1000" b="0">
                <a:solidFill>
                  <a:srgbClr val="53676D"/>
                </a:solidFill>
                <a:latin typeface="Aptos"/>
              </a:defRPr>
            </a:pPr>
            <a:r>
              <a:t>Propositions à valider · Aucune homologation, couverture ou performance annoncée comme acquise.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SOLAR WRAP — Juridique RH — Une slide jury</dc:title>
  <dc:subject/>
  <dc:creator>Maxime — Groupe 8</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